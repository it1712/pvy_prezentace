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58" r:id="rId5"/>
    <p:sldId id="262" r:id="rId6"/>
    <p:sldId id="263" r:id="rId7"/>
    <p:sldId id="260" r:id="rId8"/>
    <p:sldId id="265"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r Krautwurst" initials="PK" lastIdx="1" clrIdx="0">
    <p:extLst>
      <p:ext uri="{19B8F6BF-5375-455C-9EA6-DF929625EA0E}">
        <p15:presenceInfo xmlns:p15="http://schemas.microsoft.com/office/powerpoint/2012/main" userId="S::it1712@sspu-opava.cz::02e9e595-4696-4af3-9043-f5ccdc87bd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í snímek">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cs-CZ"/>
              <a:t>Kliknutím lze upravit styl.</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Záhlaví části">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cs-CZ"/>
              <a:t>Kliknutím lze upravit styl.</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Upravte styly předlohy textu.</a:t>
            </a:r>
          </a:p>
        </p:txBody>
      </p:sp>
      <p:sp>
        <p:nvSpPr>
          <p:cNvPr id="4" name="Date Placeholder 3"/>
          <p:cNvSpPr>
            <a:spLocks noGrp="1"/>
          </p:cNvSpPr>
          <p:nvPr>
            <p:ph type="dt" sz="half" idx="10"/>
          </p:nvPr>
        </p:nvSpPr>
        <p:spPr/>
        <p:txBody>
          <a:bodyPr/>
          <a:lstStyle/>
          <a:p>
            <a:fld id="{5A61015F-7CC6-4D0A-9D87-873EA4C304CC}" type="datetimeFigureOut">
              <a:rPr lang="en-US" dirty="0"/>
              <a:t>12/15/2020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cs-CZ"/>
              <a:t>Kliknutím lze upravit styl.</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12/15/2020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cs-CZ"/>
              <a:t>Kliknutím lze upravit styl.</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Content Placeholder 3"/>
          <p:cNvSpPr>
            <a:spLocks noGrp="1"/>
          </p:cNvSpPr>
          <p:nvPr>
            <p:ph sz="half" idx="2"/>
          </p:nvPr>
        </p:nvSpPr>
        <p:spPr>
          <a:xfrm>
            <a:off x="1024128" y="2967788"/>
            <a:ext cx="4754880" cy="3341572"/>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cs-CZ"/>
              <a:t>Upravte styly předlohy textu.</a:t>
            </a:r>
          </a:p>
        </p:txBody>
      </p:sp>
      <p:sp>
        <p:nvSpPr>
          <p:cNvPr id="6" name="Content Placeholder 5"/>
          <p:cNvSpPr>
            <a:spLocks noGrp="1"/>
          </p:cNvSpPr>
          <p:nvPr>
            <p:ph sz="quarter" idx="4"/>
          </p:nvPr>
        </p:nvSpPr>
        <p:spPr>
          <a:xfrm>
            <a:off x="5990888" y="2967788"/>
            <a:ext cx="4754880" cy="3341572"/>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12/15/2020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12/15/2020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12/15/2020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cs-CZ"/>
              <a:t>Kliknutím lze upravit styl.</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Upravte styly předlohy textu.</a:t>
            </a:r>
          </a:p>
        </p:txBody>
      </p:sp>
      <p:sp>
        <p:nvSpPr>
          <p:cNvPr id="5" name="Date Placeholder 4"/>
          <p:cNvSpPr>
            <a:spLocks noGrp="1"/>
          </p:cNvSpPr>
          <p:nvPr>
            <p:ph type="dt" sz="half" idx="10"/>
          </p:nvPr>
        </p:nvSpPr>
        <p:spPr/>
        <p:txBody>
          <a:bodyPr/>
          <a:lstStyle/>
          <a:p>
            <a:fld id="{05C68B11-C5A8-448C-8CE9-B1A273C79CFC}" type="datetimeFigureOut">
              <a:rPr lang="en-US" dirty="0"/>
              <a:t>12/15/2020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ázek s titulkem">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cs-CZ"/>
              <a:t>Kliknutím lze upravit styl.</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Date Placeholder 4"/>
          <p:cNvSpPr>
            <a:spLocks noGrp="1"/>
          </p:cNvSpPr>
          <p:nvPr>
            <p:ph type="dt" sz="half" idx="10"/>
          </p:nvPr>
        </p:nvSpPr>
        <p:spPr/>
        <p:txBody>
          <a:bodyPr/>
          <a:lstStyle/>
          <a:p>
            <a:fld id="{C7616CA0-919D-4A49-9C8A-62FDFB3A5183}" type="datetimeFigureOut">
              <a:rPr lang="en-US" dirty="0"/>
              <a:t>12/15/2020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Vertical Text Placeholder 2"/>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S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cs-CZ"/>
              <a:t>Kliknutím lze upravit styl.</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12/15/2020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cs-CZ"/>
              <a:t>Kliknutím lze upravit styl.</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12/15/2020</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dirty="0"/>
              <a:t>Vektorová Grafika</a:t>
            </a:r>
          </a:p>
        </p:txBody>
      </p:sp>
      <p:sp>
        <p:nvSpPr>
          <p:cNvPr id="3" name="Podnadpis 2"/>
          <p:cNvSpPr>
            <a:spLocks noGrp="1"/>
          </p:cNvSpPr>
          <p:nvPr>
            <p:ph type="subTitle" idx="1"/>
          </p:nvPr>
        </p:nvSpPr>
        <p:spPr/>
        <p:txBody>
          <a:bodyPr/>
          <a:lstStyle/>
          <a:p>
            <a:r>
              <a:rPr lang="cs-CZ" dirty="0"/>
              <a:t>Petr </a:t>
            </a:r>
            <a:r>
              <a:rPr lang="cs-CZ" dirty="0" err="1"/>
              <a:t>Krautwurst</a:t>
            </a:r>
            <a:endParaRPr lang="cs-CZ" dirty="0"/>
          </a:p>
        </p:txBody>
      </p:sp>
    </p:spTree>
    <p:extLst>
      <p:ext uri="{BB962C8B-B14F-4D97-AF65-F5344CB8AC3E}">
        <p14:creationId xmlns:p14="http://schemas.microsoft.com/office/powerpoint/2010/main" val="383648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Principy vektorové grafiky</a:t>
            </a:r>
          </a:p>
        </p:txBody>
      </p:sp>
      <p:sp>
        <p:nvSpPr>
          <p:cNvPr id="3" name="Zástupný symbol pro obsah 2"/>
          <p:cNvSpPr>
            <a:spLocks noGrp="1"/>
          </p:cNvSpPr>
          <p:nvPr>
            <p:ph idx="1"/>
          </p:nvPr>
        </p:nvSpPr>
        <p:spPr/>
        <p:txBody>
          <a:bodyPr/>
          <a:lstStyle/>
          <a:p>
            <a:pPr lvl="1"/>
            <a:r>
              <a:rPr lang="cs-CZ" dirty="0"/>
              <a:t>Analytická geometrie – obraz tvořen z křivek (vektorů) – matematický zápis</a:t>
            </a:r>
          </a:p>
          <a:p>
            <a:pPr lvl="2"/>
            <a:r>
              <a:rPr lang="cs-CZ" dirty="0"/>
              <a:t>Tvar, barva, tloušťka, výplň a další</a:t>
            </a:r>
          </a:p>
          <a:p>
            <a:pPr lvl="1"/>
            <a:r>
              <a:rPr lang="cs-CZ" dirty="0" err="1"/>
              <a:t>Beziérovy</a:t>
            </a:r>
            <a:r>
              <a:rPr lang="cs-CZ" dirty="0"/>
              <a:t> křivky – libovolný úsek křivky lze popsat pomocí 4 bodů</a:t>
            </a:r>
          </a:p>
          <a:p>
            <a:pPr lvl="2"/>
            <a:r>
              <a:rPr lang="cs-CZ" dirty="0"/>
              <a:t>2 krajní body (</a:t>
            </a:r>
            <a:r>
              <a:rPr lang="cs-CZ" b="1" dirty="0"/>
              <a:t>kotevní</a:t>
            </a:r>
            <a:r>
              <a:rPr lang="cs-CZ" dirty="0"/>
              <a:t>)</a:t>
            </a:r>
          </a:p>
          <a:p>
            <a:pPr lvl="2"/>
            <a:r>
              <a:rPr lang="cs-CZ" dirty="0"/>
              <a:t>2 body, které určují tvar křivky (</a:t>
            </a:r>
            <a:r>
              <a:rPr lang="cs-CZ" b="1" dirty="0"/>
              <a:t>kontrolní</a:t>
            </a:r>
            <a:r>
              <a:rPr lang="cs-CZ" dirty="0"/>
              <a:t>)</a:t>
            </a:r>
          </a:p>
          <a:p>
            <a:pPr lvl="2"/>
            <a:r>
              <a:rPr lang="cs-CZ" dirty="0"/>
              <a:t>Spojnice mezi kotevním a kontrolním bodem = tečna ke křivce</a:t>
            </a:r>
          </a:p>
        </p:txBody>
      </p:sp>
      <p:pic>
        <p:nvPicPr>
          <p:cNvPr id="4" name="Obrázek 3"/>
          <p:cNvPicPr>
            <a:picLocks noChangeAspect="1"/>
          </p:cNvPicPr>
          <p:nvPr/>
        </p:nvPicPr>
        <p:blipFill>
          <a:blip r:embed="rId2"/>
          <a:stretch>
            <a:fillRect/>
          </a:stretch>
        </p:blipFill>
        <p:spPr>
          <a:xfrm>
            <a:off x="3627238" y="4088876"/>
            <a:ext cx="4513851" cy="1845507"/>
          </a:xfrm>
          <a:prstGeom prst="rect">
            <a:avLst/>
          </a:prstGeom>
        </p:spPr>
      </p:pic>
    </p:spTree>
    <p:extLst>
      <p:ext uri="{BB962C8B-B14F-4D97-AF65-F5344CB8AC3E}">
        <p14:creationId xmlns:p14="http://schemas.microsoft.com/office/powerpoint/2010/main" val="3212695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Výhody a nevýhody vektorové grafiky</a:t>
            </a:r>
          </a:p>
        </p:txBody>
      </p:sp>
      <p:sp>
        <p:nvSpPr>
          <p:cNvPr id="3" name="Zástupný symbol pro text 2"/>
          <p:cNvSpPr>
            <a:spLocks noGrp="1"/>
          </p:cNvSpPr>
          <p:nvPr>
            <p:ph type="body" idx="1"/>
          </p:nvPr>
        </p:nvSpPr>
        <p:spPr/>
        <p:txBody>
          <a:bodyPr/>
          <a:lstStyle/>
          <a:p>
            <a:r>
              <a:rPr lang="cs-CZ" dirty="0"/>
              <a:t>Výhody</a:t>
            </a:r>
          </a:p>
        </p:txBody>
      </p:sp>
      <p:sp>
        <p:nvSpPr>
          <p:cNvPr id="4" name="Zástupný symbol pro obsah 3"/>
          <p:cNvSpPr>
            <a:spLocks noGrp="1"/>
          </p:cNvSpPr>
          <p:nvPr>
            <p:ph sz="half" idx="2"/>
          </p:nvPr>
        </p:nvSpPr>
        <p:spPr/>
        <p:txBody>
          <a:bodyPr>
            <a:normAutofit/>
          </a:bodyPr>
          <a:lstStyle/>
          <a:p>
            <a:pPr>
              <a:buFont typeface="Arial" panose="020B0604020202020204" pitchFamily="34" charset="0"/>
              <a:buChar char="•"/>
            </a:pPr>
            <a:r>
              <a:rPr lang="cs-CZ" dirty="0"/>
              <a:t> Zvětšení bez ztráty kvality</a:t>
            </a:r>
          </a:p>
          <a:p>
            <a:pPr>
              <a:buFont typeface="Arial" panose="020B0604020202020204" pitchFamily="34" charset="0"/>
              <a:buChar char="•"/>
            </a:pPr>
            <a:r>
              <a:rPr lang="cs-CZ" dirty="0"/>
              <a:t> Možnost pracovat s jednotlivými objekty a měnit jednotlivé parametry</a:t>
            </a:r>
          </a:p>
          <a:p>
            <a:pPr>
              <a:buFont typeface="Arial" panose="020B0604020202020204" pitchFamily="34" charset="0"/>
              <a:buChar char="•"/>
            </a:pPr>
            <a:r>
              <a:rPr lang="cs-CZ" dirty="0"/>
              <a:t> Menší nároky na paměť</a:t>
            </a:r>
          </a:p>
          <a:p>
            <a:pPr>
              <a:buFont typeface="Arial" panose="020B0604020202020204" pitchFamily="34" charset="0"/>
              <a:buChar char="•"/>
            </a:pPr>
            <a:r>
              <a:rPr lang="cs-CZ" dirty="0"/>
              <a:t> Podpora vektorových výstupů</a:t>
            </a:r>
          </a:p>
          <a:p>
            <a:pPr lvl="1">
              <a:buFont typeface="Arial" panose="020B0604020202020204" pitchFamily="34" charset="0"/>
              <a:buChar char="•"/>
            </a:pPr>
            <a:r>
              <a:rPr lang="cs-CZ" dirty="0"/>
              <a:t> Vyřezávací / kreslící plotry</a:t>
            </a:r>
          </a:p>
        </p:txBody>
      </p:sp>
      <p:sp>
        <p:nvSpPr>
          <p:cNvPr id="5" name="Zástupný symbol pro text 4"/>
          <p:cNvSpPr>
            <a:spLocks noGrp="1"/>
          </p:cNvSpPr>
          <p:nvPr>
            <p:ph type="body" sz="quarter" idx="3"/>
          </p:nvPr>
        </p:nvSpPr>
        <p:spPr/>
        <p:txBody>
          <a:bodyPr/>
          <a:lstStyle/>
          <a:p>
            <a:r>
              <a:rPr lang="cs-CZ" dirty="0"/>
              <a:t>Nevýhody</a:t>
            </a:r>
          </a:p>
        </p:txBody>
      </p:sp>
      <p:sp>
        <p:nvSpPr>
          <p:cNvPr id="6" name="Zástupný symbol pro obsah 5"/>
          <p:cNvSpPr>
            <a:spLocks noGrp="1"/>
          </p:cNvSpPr>
          <p:nvPr>
            <p:ph sz="quarter" idx="4"/>
          </p:nvPr>
        </p:nvSpPr>
        <p:spPr/>
        <p:txBody>
          <a:bodyPr>
            <a:noAutofit/>
          </a:bodyPr>
          <a:lstStyle/>
          <a:p>
            <a:pPr>
              <a:buFont typeface="Courier New" panose="02070309020205020404" pitchFamily="49" charset="0"/>
              <a:buChar char="o"/>
            </a:pPr>
            <a:r>
              <a:rPr lang="cs-CZ" dirty="0"/>
              <a:t> Neschopnost efektivně uložit fotorealistické scény.</a:t>
            </a:r>
          </a:p>
          <a:p>
            <a:pPr>
              <a:buFont typeface="Courier New" panose="02070309020205020404" pitchFamily="49" charset="0"/>
              <a:buChar char="o"/>
            </a:pPr>
            <a:r>
              <a:rPr lang="cs-CZ" dirty="0"/>
              <a:t> Nutnost </a:t>
            </a:r>
            <a:r>
              <a:rPr lang="cs-CZ" dirty="0" err="1"/>
              <a:t>rasterizace</a:t>
            </a:r>
            <a:r>
              <a:rPr lang="cs-CZ" dirty="0"/>
              <a:t> pro rastrové výstupní zařízení</a:t>
            </a:r>
          </a:p>
          <a:p>
            <a:pPr>
              <a:buFont typeface="Courier New" panose="02070309020205020404" pitchFamily="49" charset="0"/>
              <a:buChar char="o"/>
            </a:pPr>
            <a:r>
              <a:rPr lang="cs-CZ" dirty="0"/>
              <a:t> Neexistuje jednotný formát</a:t>
            </a:r>
          </a:p>
          <a:p>
            <a:pPr>
              <a:buFont typeface="Courier New" panose="02070309020205020404" pitchFamily="49" charset="0"/>
              <a:buChar char="o"/>
            </a:pPr>
            <a:r>
              <a:rPr lang="cs-CZ" dirty="0"/>
              <a:t> Složitější pořízení obrázku (rastr jednoduše fotka)</a:t>
            </a:r>
          </a:p>
          <a:p>
            <a:pPr>
              <a:buFont typeface="Courier New" panose="02070309020205020404" pitchFamily="49" charset="0"/>
              <a:buChar char="o"/>
            </a:pPr>
            <a:r>
              <a:rPr lang="cs-CZ" dirty="0"/>
              <a:t> Náročnější na výkon</a:t>
            </a:r>
          </a:p>
        </p:txBody>
      </p:sp>
    </p:spTree>
    <p:extLst>
      <p:ext uri="{BB962C8B-B14F-4D97-AF65-F5344CB8AC3E}">
        <p14:creationId xmlns:p14="http://schemas.microsoft.com/office/powerpoint/2010/main" val="180023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Oblasti využití</a:t>
            </a:r>
          </a:p>
        </p:txBody>
      </p:sp>
      <p:sp>
        <p:nvSpPr>
          <p:cNvPr id="3" name="Zástupný symbol pro obsah 2"/>
          <p:cNvSpPr>
            <a:spLocks noGrp="1"/>
          </p:cNvSpPr>
          <p:nvPr>
            <p:ph idx="1"/>
          </p:nvPr>
        </p:nvSpPr>
        <p:spPr/>
        <p:txBody>
          <a:bodyPr>
            <a:normAutofit lnSpcReduction="10000"/>
          </a:bodyPr>
          <a:lstStyle/>
          <a:p>
            <a:pPr>
              <a:buFont typeface="Wingdings" panose="05000000000000000000" pitchFamily="2" charset="2"/>
              <a:buChar char="§"/>
            </a:pPr>
            <a:r>
              <a:rPr lang="cs-CZ" dirty="0"/>
              <a:t> Reklamy a propagace</a:t>
            </a:r>
          </a:p>
          <a:p>
            <a:pPr lvl="1">
              <a:buFont typeface="Wingdings" panose="05000000000000000000" pitchFamily="2" charset="2"/>
              <a:buChar char="§"/>
            </a:pPr>
            <a:r>
              <a:rPr lang="cs-CZ" dirty="0"/>
              <a:t> Vyřezávané reklamy (</a:t>
            </a:r>
            <a:r>
              <a:rPr lang="cs-CZ" dirty="0" err="1"/>
              <a:t>signmaking</a:t>
            </a:r>
            <a:r>
              <a:rPr lang="cs-CZ" dirty="0"/>
              <a:t>), reklamní bannery, loga</a:t>
            </a:r>
          </a:p>
          <a:p>
            <a:pPr>
              <a:buFont typeface="Wingdings" panose="05000000000000000000" pitchFamily="2" charset="2"/>
              <a:buChar char="§"/>
            </a:pPr>
            <a:r>
              <a:rPr lang="cs-CZ" dirty="0"/>
              <a:t> Symboly, ornamenty, piktogramy</a:t>
            </a:r>
          </a:p>
          <a:p>
            <a:pPr>
              <a:buFont typeface="Wingdings" panose="05000000000000000000" pitchFamily="2" charset="2"/>
              <a:buChar char="§"/>
            </a:pPr>
            <a:r>
              <a:rPr lang="cs-CZ" dirty="0"/>
              <a:t> Fonty</a:t>
            </a:r>
          </a:p>
          <a:p>
            <a:pPr>
              <a:buFont typeface="Wingdings" panose="05000000000000000000" pitchFamily="2" charset="2"/>
              <a:buChar char="§"/>
            </a:pPr>
            <a:r>
              <a:rPr lang="cs-CZ" dirty="0"/>
              <a:t> Využívají ho programy DTP</a:t>
            </a:r>
          </a:p>
          <a:p>
            <a:pPr>
              <a:buFont typeface="Wingdings" panose="05000000000000000000" pitchFamily="2" charset="2"/>
              <a:buChar char="§"/>
            </a:pPr>
            <a:r>
              <a:rPr lang="cs-CZ" dirty="0"/>
              <a:t> Principy – CAD</a:t>
            </a:r>
          </a:p>
          <a:p>
            <a:pPr>
              <a:buFont typeface="Wingdings" panose="05000000000000000000" pitchFamily="2" charset="2"/>
              <a:buChar char="§"/>
            </a:pPr>
            <a:r>
              <a:rPr lang="cs-CZ" dirty="0"/>
              <a:t> Schémata, animace, 3D grafika, vizualizace, simulace</a:t>
            </a:r>
          </a:p>
          <a:p>
            <a:pPr>
              <a:buFont typeface="Wingdings" panose="05000000000000000000" pitchFamily="2" charset="2"/>
              <a:buChar char="§"/>
            </a:pPr>
            <a:r>
              <a:rPr lang="cs-CZ" dirty="0"/>
              <a:t> Výrazně zasahuje do PC her a VR</a:t>
            </a:r>
          </a:p>
          <a:p>
            <a:pPr>
              <a:buFont typeface="Wingdings" panose="05000000000000000000" pitchFamily="2" charset="2"/>
              <a:buChar char="§"/>
            </a:pPr>
            <a:r>
              <a:rPr lang="cs-CZ" dirty="0"/>
              <a:t> Mapy</a:t>
            </a:r>
          </a:p>
        </p:txBody>
      </p:sp>
    </p:spTree>
    <p:extLst>
      <p:ext uri="{BB962C8B-B14F-4D97-AF65-F5344CB8AC3E}">
        <p14:creationId xmlns:p14="http://schemas.microsoft.com/office/powerpoint/2010/main" val="3087466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Rasterizace</a:t>
            </a:r>
            <a:endParaRPr lang="cs-CZ" dirty="0"/>
          </a:p>
        </p:txBody>
      </p:sp>
      <p:sp>
        <p:nvSpPr>
          <p:cNvPr id="3" name="Zástupný symbol pro obsah 2"/>
          <p:cNvSpPr>
            <a:spLocks noGrp="1"/>
          </p:cNvSpPr>
          <p:nvPr>
            <p:ph sz="half" idx="1"/>
          </p:nvPr>
        </p:nvSpPr>
        <p:spPr/>
        <p:txBody>
          <a:bodyPr/>
          <a:lstStyle/>
          <a:p>
            <a:r>
              <a:rPr lang="cs-CZ" dirty="0"/>
              <a:t>= konverze vektorové grafiky na bitmapové obrazy</a:t>
            </a:r>
          </a:p>
          <a:p>
            <a:pPr>
              <a:buFont typeface="Arial" panose="020B0604020202020204" pitchFamily="34" charset="0"/>
              <a:buChar char="•"/>
            </a:pPr>
            <a:r>
              <a:rPr lang="cs-CZ" dirty="0"/>
              <a:t> </a:t>
            </a:r>
            <a:r>
              <a:rPr lang="cs-CZ" dirty="0" err="1"/>
              <a:t>Rasterizace</a:t>
            </a:r>
            <a:r>
              <a:rPr lang="cs-CZ" dirty="0"/>
              <a:t> úsečky, </a:t>
            </a:r>
            <a:r>
              <a:rPr lang="cs-CZ" dirty="0" err="1"/>
              <a:t>kružnicce</a:t>
            </a:r>
            <a:endParaRPr lang="cs-CZ" dirty="0"/>
          </a:p>
          <a:p>
            <a:pPr>
              <a:buFont typeface="Arial" panose="020B0604020202020204" pitchFamily="34" charset="0"/>
              <a:buChar char="•"/>
            </a:pPr>
            <a:endParaRPr lang="cs-CZ" dirty="0"/>
          </a:p>
          <a:p>
            <a:pPr marL="0" indent="0">
              <a:buNone/>
            </a:pPr>
            <a:endParaRPr lang="cs-CZ" dirty="0"/>
          </a:p>
          <a:p>
            <a:pPr>
              <a:buFont typeface="Arial" panose="020B0604020202020204" pitchFamily="34" charset="0"/>
              <a:buChar char="•"/>
            </a:pPr>
            <a:r>
              <a:rPr lang="cs-CZ" dirty="0"/>
              <a:t> Složité algoritmy – např. </a:t>
            </a:r>
            <a:r>
              <a:rPr lang="cs-CZ" b="1" dirty="0" err="1"/>
              <a:t>antialiasing</a:t>
            </a:r>
            <a:r>
              <a:rPr lang="cs-CZ" dirty="0"/>
              <a:t> (vyhlazování hran) – u obrázků i znaků</a:t>
            </a:r>
          </a:p>
          <a:p>
            <a:pPr>
              <a:buFont typeface="Arial" panose="020B0604020202020204" pitchFamily="34" charset="0"/>
              <a:buChar char="•"/>
            </a:pPr>
            <a:endParaRPr lang="cs-CZ" dirty="0"/>
          </a:p>
        </p:txBody>
      </p:sp>
      <p:sp>
        <p:nvSpPr>
          <p:cNvPr id="8" name="Zástupný symbol pro obsah 7"/>
          <p:cNvSpPr>
            <a:spLocks noGrp="1"/>
          </p:cNvSpPr>
          <p:nvPr>
            <p:ph sz="half" idx="2"/>
          </p:nvPr>
        </p:nvSpPr>
        <p:spPr/>
        <p:txBody>
          <a:bodyPr/>
          <a:lstStyle/>
          <a:p>
            <a:pPr>
              <a:buFont typeface="Arial" panose="020B0604020202020204" pitchFamily="34" charset="0"/>
              <a:buChar char="•"/>
            </a:pPr>
            <a:r>
              <a:rPr lang="cs-CZ" dirty="0"/>
              <a:t> Při převodu 3D na 2D</a:t>
            </a:r>
          </a:p>
          <a:p>
            <a:pPr>
              <a:buFont typeface="Arial" panose="020B0604020202020204" pitchFamily="34" charset="0"/>
              <a:buChar char="•"/>
            </a:pPr>
            <a:r>
              <a:rPr lang="cs-CZ" b="1" dirty="0"/>
              <a:t> </a:t>
            </a:r>
            <a:r>
              <a:rPr lang="cs-CZ" b="1" dirty="0" err="1"/>
              <a:t>clipping</a:t>
            </a:r>
            <a:r>
              <a:rPr lang="cs-CZ" b="1" dirty="0"/>
              <a:t> </a:t>
            </a:r>
            <a:r>
              <a:rPr lang="cs-CZ" dirty="0"/>
              <a:t>(převádí se jen objekty v zorném poli)</a:t>
            </a:r>
          </a:p>
          <a:p>
            <a:pPr>
              <a:buFont typeface="Arial" panose="020B0604020202020204" pitchFamily="34" charset="0"/>
              <a:buChar char="•"/>
            </a:pPr>
            <a:r>
              <a:rPr lang="cs-CZ" b="1" dirty="0"/>
              <a:t> Z-</a:t>
            </a:r>
            <a:r>
              <a:rPr lang="cs-CZ" b="1" dirty="0" err="1"/>
              <a:t>buffer</a:t>
            </a:r>
            <a:r>
              <a:rPr lang="cs-CZ" dirty="0"/>
              <a:t> – hloubka scény</a:t>
            </a:r>
            <a:endParaRPr lang="cs-CZ" b="1" dirty="0"/>
          </a:p>
        </p:txBody>
      </p:sp>
      <p:grpSp>
        <p:nvGrpSpPr>
          <p:cNvPr id="7" name="Skupina 6"/>
          <p:cNvGrpSpPr/>
          <p:nvPr/>
        </p:nvGrpSpPr>
        <p:grpSpPr>
          <a:xfrm>
            <a:off x="1246550" y="3513501"/>
            <a:ext cx="3012412" cy="930803"/>
            <a:chOff x="1024128" y="3243310"/>
            <a:chExt cx="3201146" cy="1054370"/>
          </a:xfrm>
        </p:grpSpPr>
        <p:pic>
          <p:nvPicPr>
            <p:cNvPr id="4" name="Obrázek 3"/>
            <p:cNvPicPr>
              <a:picLocks noChangeAspect="1"/>
            </p:cNvPicPr>
            <p:nvPr/>
          </p:nvPicPr>
          <p:blipFill>
            <a:blip r:embed="rId2"/>
            <a:stretch>
              <a:fillRect/>
            </a:stretch>
          </p:blipFill>
          <p:spPr>
            <a:xfrm>
              <a:off x="1024128" y="3243310"/>
              <a:ext cx="2063096" cy="1054370"/>
            </a:xfrm>
            <a:prstGeom prst="rect">
              <a:avLst/>
            </a:prstGeom>
          </p:spPr>
        </p:pic>
        <p:pic>
          <p:nvPicPr>
            <p:cNvPr id="5" name="Obrázek 4"/>
            <p:cNvPicPr>
              <a:picLocks noChangeAspect="1"/>
            </p:cNvPicPr>
            <p:nvPr/>
          </p:nvPicPr>
          <p:blipFill>
            <a:blip r:embed="rId3"/>
            <a:stretch>
              <a:fillRect/>
            </a:stretch>
          </p:blipFill>
          <p:spPr>
            <a:xfrm>
              <a:off x="3087224" y="3243310"/>
              <a:ext cx="1138050" cy="1054370"/>
            </a:xfrm>
            <a:prstGeom prst="rect">
              <a:avLst/>
            </a:prstGeom>
          </p:spPr>
        </p:pic>
      </p:grpSp>
      <p:pic>
        <p:nvPicPr>
          <p:cNvPr id="6" name="Obrázek 5"/>
          <p:cNvPicPr>
            <a:picLocks noChangeAspect="1"/>
          </p:cNvPicPr>
          <p:nvPr/>
        </p:nvPicPr>
        <p:blipFill rotWithShape="1">
          <a:blip r:embed="rId4"/>
          <a:srcRect r="25891" b="50141"/>
          <a:stretch/>
        </p:blipFill>
        <p:spPr>
          <a:xfrm>
            <a:off x="1024127" y="5155741"/>
            <a:ext cx="1554369" cy="1032128"/>
          </a:xfrm>
          <a:prstGeom prst="rect">
            <a:avLst/>
          </a:prstGeom>
        </p:spPr>
      </p:pic>
      <p:pic>
        <p:nvPicPr>
          <p:cNvPr id="10" name="Obrázek 9"/>
          <p:cNvPicPr>
            <a:picLocks noChangeAspect="1"/>
          </p:cNvPicPr>
          <p:nvPr/>
        </p:nvPicPr>
        <p:blipFill rotWithShape="1">
          <a:blip r:embed="rId4"/>
          <a:srcRect l="73567" t="-796" r="2082" b="69380"/>
          <a:stretch/>
        </p:blipFill>
        <p:spPr>
          <a:xfrm>
            <a:off x="2578496" y="5346632"/>
            <a:ext cx="510747" cy="650346"/>
          </a:xfrm>
          <a:prstGeom prst="rect">
            <a:avLst/>
          </a:prstGeom>
        </p:spPr>
      </p:pic>
      <p:pic>
        <p:nvPicPr>
          <p:cNvPr id="11" name="Obrázek 10"/>
          <p:cNvPicPr>
            <a:picLocks noChangeAspect="1"/>
          </p:cNvPicPr>
          <p:nvPr/>
        </p:nvPicPr>
        <p:blipFill rotWithShape="1">
          <a:blip r:embed="rId4"/>
          <a:srcRect t="49939" r="26041"/>
          <a:stretch/>
        </p:blipFill>
        <p:spPr>
          <a:xfrm>
            <a:off x="3299556" y="5163149"/>
            <a:ext cx="1551211" cy="1036311"/>
          </a:xfrm>
          <a:prstGeom prst="rect">
            <a:avLst/>
          </a:prstGeom>
        </p:spPr>
      </p:pic>
      <p:pic>
        <p:nvPicPr>
          <p:cNvPr id="12" name="Obrázek 11"/>
          <p:cNvPicPr>
            <a:picLocks noChangeAspect="1"/>
          </p:cNvPicPr>
          <p:nvPr/>
        </p:nvPicPr>
        <p:blipFill rotWithShape="1">
          <a:blip r:embed="rId4"/>
          <a:srcRect l="73323" t="66573" r="2325"/>
          <a:stretch/>
        </p:blipFill>
        <p:spPr>
          <a:xfrm>
            <a:off x="4964673" y="5304999"/>
            <a:ext cx="510747" cy="691979"/>
          </a:xfrm>
          <a:prstGeom prst="rect">
            <a:avLst/>
          </a:prstGeom>
        </p:spPr>
      </p:pic>
      <p:pic>
        <p:nvPicPr>
          <p:cNvPr id="13" name="Obrázek 12"/>
          <p:cNvPicPr>
            <a:picLocks noChangeAspect="1"/>
          </p:cNvPicPr>
          <p:nvPr/>
        </p:nvPicPr>
        <p:blipFill>
          <a:blip r:embed="rId5"/>
          <a:stretch>
            <a:fillRect/>
          </a:stretch>
        </p:blipFill>
        <p:spPr>
          <a:xfrm>
            <a:off x="6118750" y="3978902"/>
            <a:ext cx="4496020" cy="1445149"/>
          </a:xfrm>
          <a:prstGeom prst="rect">
            <a:avLst/>
          </a:prstGeom>
        </p:spPr>
      </p:pic>
    </p:spTree>
    <p:extLst>
      <p:ext uri="{BB962C8B-B14F-4D97-AF65-F5344CB8AC3E}">
        <p14:creationId xmlns:p14="http://schemas.microsoft.com/office/powerpoint/2010/main" val="70419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Vektorizace</a:t>
            </a:r>
            <a:endParaRPr lang="cs-CZ" dirty="0"/>
          </a:p>
        </p:txBody>
      </p:sp>
      <p:sp>
        <p:nvSpPr>
          <p:cNvPr id="5" name="Zástupný symbol pro obsah 4"/>
          <p:cNvSpPr>
            <a:spLocks noGrp="1"/>
          </p:cNvSpPr>
          <p:nvPr>
            <p:ph sz="half" idx="1"/>
          </p:nvPr>
        </p:nvSpPr>
        <p:spPr/>
        <p:txBody>
          <a:bodyPr>
            <a:normAutofit lnSpcReduction="10000"/>
          </a:bodyPr>
          <a:lstStyle/>
          <a:p>
            <a:r>
              <a:rPr lang="cs-CZ" dirty="0"/>
              <a:t>= převod rastru na vektor</a:t>
            </a:r>
          </a:p>
          <a:p>
            <a:pPr>
              <a:buFont typeface="Arial" panose="020B0604020202020204" pitchFamily="34" charset="0"/>
              <a:buChar char="•"/>
            </a:pPr>
            <a:r>
              <a:rPr lang="cs-CZ" dirty="0"/>
              <a:t> Ruční – ruční překreslování (nenáročné, neefektivní)</a:t>
            </a:r>
          </a:p>
          <a:p>
            <a:pPr>
              <a:buFont typeface="Arial" panose="020B0604020202020204" pitchFamily="34" charset="0"/>
              <a:buChar char="•"/>
            </a:pPr>
            <a:r>
              <a:rPr lang="cs-CZ" dirty="0"/>
              <a:t> Poloautomatická – zvolí se počátek, systém zkusí identifikovat objekt a převést ho, popř. se ptá na směr</a:t>
            </a:r>
          </a:p>
          <a:p>
            <a:pPr>
              <a:buFont typeface="Arial" panose="020B0604020202020204" pitchFamily="34" charset="0"/>
              <a:buChar char="•"/>
            </a:pPr>
            <a:r>
              <a:rPr lang="cs-CZ" dirty="0"/>
              <a:t> Automatická – vychází z AI a zpracování obrazu</a:t>
            </a:r>
          </a:p>
          <a:p>
            <a:pPr>
              <a:buFont typeface="Arial" panose="020B0604020202020204" pitchFamily="34" charset="0"/>
              <a:buChar char="•"/>
            </a:pPr>
            <a:r>
              <a:rPr lang="cs-CZ" dirty="0"/>
              <a:t> Po vygenerování – odstranění nadbytečných informací (zbytečné vrcholy </a:t>
            </a:r>
            <a:r>
              <a:rPr lang="cs-CZ" dirty="0" err="1"/>
              <a:t>atd</a:t>
            </a:r>
            <a:r>
              <a:rPr lang="cs-CZ" dirty="0"/>
              <a:t>)	</a:t>
            </a:r>
          </a:p>
        </p:txBody>
      </p:sp>
      <p:sp>
        <p:nvSpPr>
          <p:cNvPr id="6" name="Zástupný symbol pro obsah 5"/>
          <p:cNvSpPr>
            <a:spLocks noGrp="1"/>
          </p:cNvSpPr>
          <p:nvPr>
            <p:ph sz="half" idx="2"/>
          </p:nvPr>
        </p:nvSpPr>
        <p:spPr/>
        <p:txBody>
          <a:bodyPr>
            <a:normAutofit lnSpcReduction="10000"/>
          </a:bodyPr>
          <a:lstStyle/>
          <a:p>
            <a:pPr>
              <a:buFont typeface="Arial" panose="020B0604020202020204" pitchFamily="34" charset="0"/>
              <a:buChar char="•"/>
            </a:pPr>
            <a:r>
              <a:rPr lang="cs-CZ" dirty="0"/>
              <a:t> </a:t>
            </a:r>
            <a:r>
              <a:rPr lang="cs-CZ" dirty="0" err="1"/>
              <a:t>CorelDraw</a:t>
            </a:r>
            <a:r>
              <a:rPr lang="cs-CZ" dirty="0"/>
              <a:t> – </a:t>
            </a:r>
            <a:r>
              <a:rPr lang="cs-CZ" dirty="0" err="1"/>
              <a:t>PowerTRACE</a:t>
            </a:r>
            <a:r>
              <a:rPr lang="cs-CZ" dirty="0"/>
              <a:t> – </a:t>
            </a:r>
            <a:r>
              <a:rPr lang="cs-CZ" b="1" dirty="0"/>
              <a:t>trasování</a:t>
            </a:r>
            <a:endParaRPr lang="cs-CZ" dirty="0"/>
          </a:p>
          <a:p>
            <a:pPr lvl="1">
              <a:buFont typeface="Arial" panose="020B0604020202020204" pitchFamily="34" charset="0"/>
              <a:buChar char="•"/>
            </a:pPr>
            <a:r>
              <a:rPr lang="cs-CZ" dirty="0"/>
              <a:t> Rozdělí na křivkové objekty</a:t>
            </a:r>
          </a:p>
          <a:p>
            <a:pPr>
              <a:buFont typeface="Arial" panose="020B0604020202020204" pitchFamily="34" charset="0"/>
              <a:buChar char="•"/>
            </a:pPr>
            <a:endParaRPr lang="cs-CZ" dirty="0"/>
          </a:p>
        </p:txBody>
      </p:sp>
      <p:pic>
        <p:nvPicPr>
          <p:cNvPr id="7" name="Obrázek 6"/>
          <p:cNvPicPr>
            <a:picLocks noChangeAspect="1"/>
          </p:cNvPicPr>
          <p:nvPr/>
        </p:nvPicPr>
        <p:blipFill>
          <a:blip r:embed="rId2"/>
          <a:stretch>
            <a:fillRect/>
          </a:stretch>
        </p:blipFill>
        <p:spPr>
          <a:xfrm>
            <a:off x="6080599" y="3107142"/>
            <a:ext cx="4572321" cy="3202218"/>
          </a:xfrm>
          <a:prstGeom prst="rect">
            <a:avLst/>
          </a:prstGeom>
        </p:spPr>
      </p:pic>
    </p:spTree>
    <p:extLst>
      <p:ext uri="{BB962C8B-B14F-4D97-AF65-F5344CB8AC3E}">
        <p14:creationId xmlns:p14="http://schemas.microsoft.com/office/powerpoint/2010/main" val="298624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Vektorové editory a formáty</a:t>
            </a:r>
          </a:p>
        </p:txBody>
      </p:sp>
      <p:sp>
        <p:nvSpPr>
          <p:cNvPr id="3" name="Zástupný symbol pro obsah 2"/>
          <p:cNvSpPr>
            <a:spLocks noGrp="1"/>
          </p:cNvSpPr>
          <p:nvPr>
            <p:ph idx="1"/>
          </p:nvPr>
        </p:nvSpPr>
        <p:spPr/>
        <p:txBody>
          <a:bodyPr/>
          <a:lstStyle/>
          <a:p>
            <a:pPr marL="0" indent="0">
              <a:buNone/>
            </a:pPr>
            <a:r>
              <a:rPr lang="cs-CZ" dirty="0"/>
              <a:t>Adobe </a:t>
            </a:r>
            <a:r>
              <a:rPr lang="cs-CZ" dirty="0" err="1"/>
              <a:t>Illustrator</a:t>
            </a:r>
            <a:r>
              <a:rPr lang="cs-CZ" dirty="0"/>
              <a:t> (komerční)</a:t>
            </a:r>
          </a:p>
          <a:p>
            <a:pPr marL="0" indent="0">
              <a:buNone/>
            </a:pPr>
            <a:r>
              <a:rPr lang="cs-CZ" dirty="0" err="1"/>
              <a:t>CorelDraw</a:t>
            </a:r>
            <a:r>
              <a:rPr lang="cs-CZ" dirty="0"/>
              <a:t>! (komerční)</a:t>
            </a:r>
          </a:p>
          <a:p>
            <a:pPr marL="0" indent="0">
              <a:buNone/>
            </a:pPr>
            <a:r>
              <a:rPr lang="cs-CZ" dirty="0" err="1"/>
              <a:t>Zoner</a:t>
            </a:r>
            <a:r>
              <a:rPr lang="cs-CZ" dirty="0"/>
              <a:t> </a:t>
            </a:r>
            <a:r>
              <a:rPr lang="cs-CZ" dirty="0" err="1"/>
              <a:t>Callisto</a:t>
            </a:r>
            <a:r>
              <a:rPr lang="cs-CZ" dirty="0"/>
              <a:t> (český freeware)</a:t>
            </a:r>
          </a:p>
          <a:p>
            <a:pPr marL="0" indent="0">
              <a:buNone/>
            </a:pPr>
            <a:r>
              <a:rPr lang="cs-CZ" dirty="0"/>
              <a:t>Adobe </a:t>
            </a:r>
            <a:r>
              <a:rPr lang="cs-CZ" dirty="0" err="1"/>
              <a:t>FireWorks</a:t>
            </a:r>
            <a:r>
              <a:rPr lang="cs-CZ" dirty="0"/>
              <a:t>, </a:t>
            </a:r>
            <a:r>
              <a:rPr lang="cs-CZ" dirty="0" err="1"/>
              <a:t>Macromedia</a:t>
            </a:r>
            <a:r>
              <a:rPr lang="cs-CZ" dirty="0"/>
              <a:t> </a:t>
            </a:r>
            <a:r>
              <a:rPr lang="cs-CZ" dirty="0" err="1"/>
              <a:t>Flash</a:t>
            </a:r>
            <a:r>
              <a:rPr lang="cs-CZ" dirty="0"/>
              <a:t> (práce s vektory a bitmapami)</a:t>
            </a:r>
          </a:p>
          <a:p>
            <a:pPr marL="0" indent="0">
              <a:buNone/>
            </a:pPr>
            <a:r>
              <a:rPr lang="cs-CZ" dirty="0"/>
              <a:t>CAD systémy</a:t>
            </a:r>
          </a:p>
          <a:p>
            <a:pPr marL="0" indent="0">
              <a:buNone/>
            </a:pPr>
            <a:r>
              <a:rPr lang="cs-CZ" dirty="0" err="1"/>
              <a:t>Fritzing</a:t>
            </a:r>
            <a:r>
              <a:rPr lang="cs-CZ" dirty="0"/>
              <a:t> (elektronické obvody)</a:t>
            </a:r>
          </a:p>
          <a:p>
            <a:pPr marL="0" indent="0">
              <a:buNone/>
            </a:pPr>
            <a:r>
              <a:rPr lang="cs-CZ" dirty="0"/>
              <a:t>IDEA 3D (architekti)</a:t>
            </a:r>
          </a:p>
          <a:p>
            <a:pPr marL="0" indent="0">
              <a:buNone/>
            </a:pPr>
            <a:r>
              <a:rPr lang="cs-CZ" dirty="0" err="1"/>
              <a:t>Cinema</a:t>
            </a:r>
            <a:r>
              <a:rPr lang="cs-CZ" dirty="0"/>
              <a:t> 4D, 3ds Max, </a:t>
            </a:r>
            <a:r>
              <a:rPr lang="cs-CZ" dirty="0" err="1"/>
              <a:t>Blender</a:t>
            </a:r>
            <a:r>
              <a:rPr lang="cs-CZ" dirty="0"/>
              <a:t> (3D modeling)</a:t>
            </a:r>
          </a:p>
          <a:p>
            <a:pPr marL="0" indent="0">
              <a:buNone/>
            </a:pPr>
            <a:endParaRPr lang="cs-CZ" dirty="0"/>
          </a:p>
        </p:txBody>
      </p:sp>
    </p:spTree>
    <p:extLst>
      <p:ext uri="{BB962C8B-B14F-4D97-AF65-F5344CB8AC3E}">
        <p14:creationId xmlns:p14="http://schemas.microsoft.com/office/powerpoint/2010/main" val="3386734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Formáty pro vektorovou grafiku</a:t>
            </a:r>
          </a:p>
        </p:txBody>
      </p:sp>
      <p:sp>
        <p:nvSpPr>
          <p:cNvPr id="3" name="Zástupný symbol pro text 2"/>
          <p:cNvSpPr>
            <a:spLocks noGrp="1"/>
          </p:cNvSpPr>
          <p:nvPr>
            <p:ph type="body" idx="1"/>
          </p:nvPr>
        </p:nvSpPr>
        <p:spPr/>
        <p:txBody>
          <a:bodyPr/>
          <a:lstStyle/>
          <a:p>
            <a:r>
              <a:rPr lang="cs-CZ" dirty="0"/>
              <a:t>Nativní vektorové formáty</a:t>
            </a:r>
          </a:p>
        </p:txBody>
      </p:sp>
      <p:sp>
        <p:nvSpPr>
          <p:cNvPr id="4" name="Zástupný symbol pro obsah 3"/>
          <p:cNvSpPr>
            <a:spLocks noGrp="1"/>
          </p:cNvSpPr>
          <p:nvPr>
            <p:ph sz="half" idx="2"/>
          </p:nvPr>
        </p:nvSpPr>
        <p:spPr/>
        <p:txBody>
          <a:bodyPr>
            <a:normAutofit fontScale="92500" lnSpcReduction="20000"/>
          </a:bodyPr>
          <a:lstStyle/>
          <a:p>
            <a:pPr lvl="1"/>
            <a:r>
              <a:rPr lang="cs-CZ" dirty="0"/>
              <a:t>nejsou vzájemně kompatibilní </a:t>
            </a:r>
          </a:p>
          <a:p>
            <a:pPr lvl="1"/>
            <a:r>
              <a:rPr lang="cs-CZ" dirty="0"/>
              <a:t>Adobe </a:t>
            </a:r>
            <a:r>
              <a:rPr lang="cs-CZ" dirty="0" err="1"/>
              <a:t>Illustrator</a:t>
            </a:r>
            <a:r>
              <a:rPr lang="cs-CZ" dirty="0"/>
              <a:t> (.AI)</a:t>
            </a:r>
          </a:p>
          <a:p>
            <a:pPr lvl="1"/>
            <a:r>
              <a:rPr lang="cs-CZ" dirty="0" err="1"/>
              <a:t>CorelDraw</a:t>
            </a:r>
            <a:r>
              <a:rPr lang="cs-CZ" dirty="0"/>
              <a:t>! (.CDR)</a:t>
            </a:r>
          </a:p>
          <a:p>
            <a:pPr lvl="1"/>
            <a:r>
              <a:rPr lang="cs-CZ" dirty="0"/>
              <a:t>Patentované (uzavřené)</a:t>
            </a:r>
          </a:p>
          <a:p>
            <a:pPr lvl="1"/>
            <a:r>
              <a:rPr lang="cs-CZ" dirty="0"/>
              <a:t>.AI</a:t>
            </a:r>
          </a:p>
          <a:p>
            <a:pPr lvl="2"/>
            <a:r>
              <a:rPr lang="cs-CZ" dirty="0"/>
              <a:t>Rastr i vektor</a:t>
            </a:r>
          </a:p>
          <a:p>
            <a:pPr lvl="2"/>
            <a:r>
              <a:rPr lang="cs-CZ" dirty="0"/>
              <a:t>Ztrátová i bezeztrátová komprese</a:t>
            </a:r>
          </a:p>
          <a:p>
            <a:pPr lvl="2"/>
            <a:r>
              <a:rPr lang="cs-CZ" dirty="0"/>
              <a:t>Různé barevné hloubky</a:t>
            </a:r>
          </a:p>
          <a:p>
            <a:pPr lvl="2"/>
            <a:r>
              <a:rPr lang="cs-CZ" dirty="0"/>
              <a:t>Různé barevné modely (RGB, CMYK)</a:t>
            </a:r>
          </a:p>
          <a:p>
            <a:pPr lvl="2"/>
            <a:r>
              <a:rPr lang="cs-CZ" dirty="0"/>
              <a:t>Více vrstev</a:t>
            </a:r>
          </a:p>
          <a:p>
            <a:pPr lvl="2"/>
            <a:r>
              <a:rPr lang="cs-CZ" dirty="0"/>
              <a:t>Jen jedna strana (nepodporuje více)</a:t>
            </a:r>
          </a:p>
          <a:p>
            <a:pPr lvl="2"/>
            <a:r>
              <a:rPr lang="cs-CZ" dirty="0"/>
              <a:t>Blízký PDF</a:t>
            </a:r>
          </a:p>
          <a:p>
            <a:pPr lvl="1"/>
            <a:r>
              <a:rPr lang="cs-CZ" dirty="0"/>
              <a:t>CDR</a:t>
            </a:r>
          </a:p>
          <a:p>
            <a:pPr lvl="2"/>
            <a:r>
              <a:rPr lang="cs-CZ" dirty="0"/>
              <a:t>Podobný jako .AI, vícestránkové dokumenty</a:t>
            </a:r>
          </a:p>
          <a:p>
            <a:endParaRPr lang="cs-CZ" dirty="0"/>
          </a:p>
          <a:p>
            <a:endParaRPr lang="cs-CZ" dirty="0"/>
          </a:p>
        </p:txBody>
      </p:sp>
      <p:sp>
        <p:nvSpPr>
          <p:cNvPr id="5" name="Zástupný symbol pro text 4"/>
          <p:cNvSpPr>
            <a:spLocks noGrp="1"/>
          </p:cNvSpPr>
          <p:nvPr>
            <p:ph type="body" sz="quarter" idx="3"/>
          </p:nvPr>
        </p:nvSpPr>
        <p:spPr/>
        <p:txBody>
          <a:bodyPr/>
          <a:lstStyle/>
          <a:p>
            <a:r>
              <a:rPr lang="cs-CZ" dirty="0"/>
              <a:t>Grafické </a:t>
            </a:r>
            <a:r>
              <a:rPr lang="cs-CZ" dirty="0" err="1"/>
              <a:t>metaformáty</a:t>
            </a:r>
            <a:endParaRPr lang="cs-CZ" dirty="0"/>
          </a:p>
        </p:txBody>
      </p:sp>
      <p:sp>
        <p:nvSpPr>
          <p:cNvPr id="6" name="Zástupný symbol pro obsah 5"/>
          <p:cNvSpPr>
            <a:spLocks noGrp="1"/>
          </p:cNvSpPr>
          <p:nvPr>
            <p:ph sz="quarter" idx="4"/>
          </p:nvPr>
        </p:nvSpPr>
        <p:spPr/>
        <p:txBody>
          <a:bodyPr>
            <a:normAutofit/>
          </a:bodyPr>
          <a:lstStyle/>
          <a:p>
            <a:pPr>
              <a:buFont typeface="Wingdings" panose="05000000000000000000" pitchFamily="2" charset="2"/>
              <a:buChar char="§"/>
            </a:pPr>
            <a:r>
              <a:rPr lang="cs-CZ" sz="1700" dirty="0"/>
              <a:t> WMF (Windows </a:t>
            </a:r>
            <a:r>
              <a:rPr lang="cs-CZ" sz="1700" dirty="0" err="1"/>
              <a:t>Metafile</a:t>
            </a:r>
            <a:r>
              <a:rPr lang="cs-CZ" sz="1700" dirty="0"/>
              <a:t>) od 16bit verzí</a:t>
            </a:r>
          </a:p>
          <a:p>
            <a:pPr>
              <a:buFont typeface="Wingdings" panose="05000000000000000000" pitchFamily="2" charset="2"/>
              <a:buChar char="§"/>
            </a:pPr>
            <a:r>
              <a:rPr lang="cs-CZ" sz="1700" dirty="0"/>
              <a:t> EMF (</a:t>
            </a:r>
            <a:r>
              <a:rPr lang="cs-CZ" sz="1700" dirty="0" err="1"/>
              <a:t>Enhanced</a:t>
            </a:r>
            <a:r>
              <a:rPr lang="cs-CZ" sz="1700" dirty="0"/>
              <a:t> </a:t>
            </a:r>
            <a:r>
              <a:rPr lang="cs-CZ" sz="1700" dirty="0" err="1"/>
              <a:t>Win</a:t>
            </a:r>
            <a:r>
              <a:rPr lang="cs-CZ" sz="1700" dirty="0"/>
              <a:t> </a:t>
            </a:r>
            <a:r>
              <a:rPr lang="cs-CZ" sz="1700" dirty="0" err="1"/>
              <a:t>Metafile</a:t>
            </a:r>
            <a:r>
              <a:rPr lang="cs-CZ" sz="1700" dirty="0"/>
              <a:t>) od 32bit verzí</a:t>
            </a:r>
          </a:p>
          <a:p>
            <a:pPr>
              <a:buFont typeface="Wingdings" panose="05000000000000000000" pitchFamily="2" charset="2"/>
              <a:buChar char="§"/>
            </a:pPr>
            <a:r>
              <a:rPr lang="cs-CZ" sz="1700" dirty="0"/>
              <a:t> Formáty pro vektorové objekty i bitmapy</a:t>
            </a:r>
          </a:p>
          <a:p>
            <a:pPr>
              <a:buFont typeface="Wingdings" panose="05000000000000000000" pitchFamily="2" charset="2"/>
              <a:buChar char="§"/>
            </a:pPr>
            <a:r>
              <a:rPr lang="cs-CZ" sz="1700" dirty="0"/>
              <a:t> Příkazy pro změnu stavu kontextu zařízení (</a:t>
            </a:r>
            <a:r>
              <a:rPr lang="cs-CZ" sz="1700" dirty="0" err="1"/>
              <a:t>device</a:t>
            </a:r>
            <a:r>
              <a:rPr lang="cs-CZ" sz="1700" dirty="0"/>
              <a:t> </a:t>
            </a:r>
            <a:r>
              <a:rPr lang="cs-CZ" sz="1700" dirty="0" err="1"/>
              <a:t>context</a:t>
            </a:r>
            <a:r>
              <a:rPr lang="cs-CZ" sz="1700" dirty="0"/>
              <a:t>)</a:t>
            </a:r>
          </a:p>
          <a:p>
            <a:pPr>
              <a:buFont typeface="Wingdings" panose="05000000000000000000" pitchFamily="2" charset="2"/>
              <a:buChar char="§"/>
            </a:pPr>
            <a:r>
              <a:rPr lang="cs-CZ" sz="1700" dirty="0"/>
              <a:t> Mohou volat </a:t>
            </a:r>
            <a:r>
              <a:rPr lang="cs-CZ" sz="1700" dirty="0" err="1"/>
              <a:t>Win</a:t>
            </a:r>
            <a:r>
              <a:rPr lang="cs-CZ" sz="1700" dirty="0"/>
              <a:t> API (útoky)</a:t>
            </a:r>
          </a:p>
          <a:p>
            <a:pPr lvl="1">
              <a:buFont typeface="Wingdings" panose="05000000000000000000" pitchFamily="2" charset="2"/>
              <a:buChar char="§"/>
            </a:pPr>
            <a:r>
              <a:rPr lang="cs-CZ" sz="1400" dirty="0" err="1"/>
              <a:t>PlayMetaFile</a:t>
            </a:r>
            <a:r>
              <a:rPr lang="cs-CZ" sz="1400" dirty="0"/>
              <a:t>(), </a:t>
            </a:r>
            <a:r>
              <a:rPr lang="cs-CZ" sz="1400" dirty="0" err="1"/>
              <a:t>PlayMetaFileRecord</a:t>
            </a:r>
            <a:r>
              <a:rPr lang="cs-CZ" sz="1400" dirty="0"/>
              <a:t>()</a:t>
            </a:r>
          </a:p>
          <a:p>
            <a:pPr>
              <a:buFont typeface="Wingdings" panose="05000000000000000000" pitchFamily="2" charset="2"/>
              <a:buChar char="§"/>
            </a:pPr>
            <a:r>
              <a:rPr lang="cs-CZ" sz="1700" dirty="0"/>
              <a:t> ZMF (</a:t>
            </a:r>
            <a:r>
              <a:rPr lang="cs-CZ" sz="1700" dirty="0" err="1"/>
              <a:t>Zoner</a:t>
            </a:r>
            <a:r>
              <a:rPr lang="cs-CZ" sz="1700" dirty="0"/>
              <a:t> </a:t>
            </a:r>
            <a:r>
              <a:rPr lang="cs-CZ" sz="1700" dirty="0" err="1"/>
              <a:t>Metafile</a:t>
            </a:r>
            <a:r>
              <a:rPr lang="cs-CZ" sz="1700" dirty="0"/>
              <a:t>) – výchozí pro </a:t>
            </a:r>
            <a:r>
              <a:rPr lang="cs-CZ" sz="1700" dirty="0" err="1"/>
              <a:t>Zoner</a:t>
            </a:r>
            <a:r>
              <a:rPr lang="cs-CZ" sz="1700" dirty="0"/>
              <a:t> </a:t>
            </a:r>
            <a:r>
              <a:rPr lang="cs-CZ" sz="1700" dirty="0" err="1"/>
              <a:t>Callisto</a:t>
            </a:r>
            <a:endParaRPr lang="cs-CZ" sz="1700" dirty="0"/>
          </a:p>
          <a:p>
            <a:pPr>
              <a:buFont typeface="Wingdings" panose="05000000000000000000" pitchFamily="2" charset="2"/>
              <a:buChar char="§"/>
            </a:pPr>
            <a:endParaRPr lang="cs-CZ" sz="2000" dirty="0"/>
          </a:p>
        </p:txBody>
      </p:sp>
    </p:spTree>
    <p:extLst>
      <p:ext uri="{BB962C8B-B14F-4D97-AF65-F5344CB8AC3E}">
        <p14:creationId xmlns:p14="http://schemas.microsoft.com/office/powerpoint/2010/main" val="4040188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Přenositelné formáty (PDF)	</a:t>
            </a:r>
          </a:p>
        </p:txBody>
      </p:sp>
      <p:sp>
        <p:nvSpPr>
          <p:cNvPr id="3" name="Zástupný symbol pro obsah 2"/>
          <p:cNvSpPr>
            <a:spLocks noGrp="1"/>
          </p:cNvSpPr>
          <p:nvPr>
            <p:ph idx="1"/>
          </p:nvPr>
        </p:nvSpPr>
        <p:spPr/>
        <p:txBody>
          <a:bodyPr/>
          <a:lstStyle/>
          <a:p>
            <a:pPr>
              <a:buFont typeface="Arial" panose="020B0604020202020204" pitchFamily="34" charset="0"/>
              <a:buChar char="•"/>
            </a:pPr>
            <a:r>
              <a:rPr lang="cs-CZ" dirty="0"/>
              <a:t>Založené na </a:t>
            </a:r>
            <a:r>
              <a:rPr lang="cs-CZ" dirty="0" err="1"/>
              <a:t>PostScriptovém</a:t>
            </a:r>
            <a:r>
              <a:rPr lang="cs-CZ" dirty="0"/>
              <a:t> zobrazovacím modelu</a:t>
            </a:r>
          </a:p>
          <a:p>
            <a:pPr>
              <a:buFont typeface="Arial" panose="020B0604020202020204" pitchFamily="34" charset="0"/>
              <a:buChar char="•"/>
            </a:pPr>
            <a:r>
              <a:rPr lang="cs-CZ" dirty="0"/>
              <a:t>Věrně zachovávají a zobrazují písma, uspořádání stránek, grafiku</a:t>
            </a:r>
          </a:p>
          <a:p>
            <a:pPr>
              <a:buFont typeface="Arial" panose="020B0604020202020204" pitchFamily="34" charset="0"/>
              <a:buChar char="•"/>
            </a:pPr>
            <a:r>
              <a:rPr lang="cs-CZ" dirty="0"/>
              <a:t>Mohou obsahovat data pro elektronické prohledávání dokumentů a pro navigaci (elektronické vazby)</a:t>
            </a:r>
          </a:p>
          <a:p>
            <a:pPr>
              <a:buFont typeface="Arial" panose="020B0604020202020204" pitchFamily="34" charset="0"/>
              <a:buChar char="•"/>
            </a:pPr>
            <a:r>
              <a:rPr lang="cs-CZ" dirty="0"/>
              <a:t>Obrazy s 16 bity na kanál</a:t>
            </a:r>
          </a:p>
          <a:p>
            <a:pPr>
              <a:buFont typeface="Arial" panose="020B0604020202020204" pitchFamily="34" charset="0"/>
              <a:buChar char="•"/>
            </a:pPr>
            <a:r>
              <a:rPr lang="cs-CZ" dirty="0"/>
              <a:t>EPS (</a:t>
            </a:r>
            <a:r>
              <a:rPr lang="cs-CZ" dirty="0" err="1"/>
              <a:t>Encapsulated</a:t>
            </a:r>
            <a:r>
              <a:rPr lang="cs-CZ" dirty="0"/>
              <a:t> </a:t>
            </a:r>
            <a:r>
              <a:rPr lang="cs-CZ" dirty="0" err="1"/>
              <a:t>PostScript</a:t>
            </a:r>
            <a:r>
              <a:rPr lang="cs-CZ" dirty="0"/>
              <a:t>)</a:t>
            </a:r>
          </a:p>
          <a:p>
            <a:pPr lvl="1">
              <a:buFont typeface="Arial" panose="020B0604020202020204" pitchFamily="34" charset="0"/>
              <a:buChar char="•"/>
            </a:pPr>
            <a:r>
              <a:rPr lang="cs-CZ" dirty="0"/>
              <a:t>Může obsahovat vektor. i bitmap. Grafiku</a:t>
            </a:r>
          </a:p>
          <a:p>
            <a:pPr lvl="1">
              <a:buFont typeface="Arial" panose="020B0604020202020204" pitchFamily="34" charset="0"/>
              <a:buChar char="•"/>
            </a:pPr>
            <a:r>
              <a:rPr lang="cs-CZ" dirty="0"/>
              <a:t>Široce podporován</a:t>
            </a:r>
          </a:p>
          <a:p>
            <a:pPr lvl="1">
              <a:buFont typeface="Arial" panose="020B0604020202020204" pitchFamily="34" charset="0"/>
              <a:buChar char="•"/>
            </a:pPr>
            <a:r>
              <a:rPr lang="cs-CZ" dirty="0"/>
              <a:t>Přenos </a:t>
            </a:r>
            <a:r>
              <a:rPr lang="cs-CZ" dirty="0" err="1"/>
              <a:t>PostScriptu</a:t>
            </a:r>
            <a:r>
              <a:rPr lang="cs-CZ" dirty="0"/>
              <a:t> mezi aplikacemi</a:t>
            </a:r>
          </a:p>
          <a:p>
            <a:pPr lvl="1">
              <a:buFont typeface="Arial" panose="020B0604020202020204" pitchFamily="34" charset="0"/>
              <a:buChar char="•"/>
            </a:pPr>
            <a:r>
              <a:rPr lang="cs-CZ" dirty="0"/>
              <a:t>RGB, CMYK, </a:t>
            </a:r>
            <a:r>
              <a:rPr lang="cs-CZ" dirty="0" err="1"/>
              <a:t>LaB</a:t>
            </a:r>
            <a:r>
              <a:rPr lang="cs-CZ" dirty="0"/>
              <a:t>, index. barvy, duplex, stupně šedi, bitmap – nepodporuje alfa kanály</a:t>
            </a:r>
          </a:p>
          <a:p>
            <a:pPr>
              <a:buFont typeface="Arial" panose="020B0604020202020204" pitchFamily="34" charset="0"/>
              <a:buChar char="•"/>
            </a:pPr>
            <a:endParaRPr lang="cs-CZ" dirty="0"/>
          </a:p>
        </p:txBody>
      </p:sp>
    </p:spTree>
    <p:extLst>
      <p:ext uri="{BB962C8B-B14F-4D97-AF65-F5344CB8AC3E}">
        <p14:creationId xmlns:p14="http://schemas.microsoft.com/office/powerpoint/2010/main" val="3330795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9C1A8E6-E755-43A2-ACD5-01120BB55968}"/>
              </a:ext>
            </a:extLst>
          </p:cNvPr>
          <p:cNvSpPr>
            <a:spLocks noGrp="1"/>
          </p:cNvSpPr>
          <p:nvPr>
            <p:ph type="title"/>
          </p:nvPr>
        </p:nvSpPr>
        <p:spPr/>
        <p:txBody>
          <a:bodyPr/>
          <a:lstStyle/>
          <a:p>
            <a:r>
              <a:rPr lang="cs-CZ" dirty="0"/>
              <a:t>Speciální vektorové formáty</a:t>
            </a:r>
          </a:p>
        </p:txBody>
      </p:sp>
      <p:sp>
        <p:nvSpPr>
          <p:cNvPr id="3" name="Zástupný obsah 2">
            <a:extLst>
              <a:ext uri="{FF2B5EF4-FFF2-40B4-BE49-F238E27FC236}">
                <a16:creationId xmlns:a16="http://schemas.microsoft.com/office/drawing/2014/main" id="{1771E98F-7EA2-4729-AF60-84CD922C6E4B}"/>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cs-CZ" dirty="0"/>
              <a:t>DWG – </a:t>
            </a:r>
            <a:r>
              <a:rPr lang="cs-CZ" dirty="0" err="1"/>
              <a:t>AutoCAD</a:t>
            </a:r>
            <a:endParaRPr lang="cs-CZ" dirty="0"/>
          </a:p>
          <a:p>
            <a:pPr lvl="1">
              <a:buFont typeface="Arial" panose="020B0604020202020204" pitchFamily="34" charset="0"/>
              <a:buChar char="•"/>
            </a:pPr>
            <a:r>
              <a:rPr lang="cs-CZ" dirty="0"/>
              <a:t>Standard spolu s DXF</a:t>
            </a:r>
          </a:p>
          <a:p>
            <a:pPr>
              <a:buFont typeface="Arial" panose="020B0604020202020204" pitchFamily="34" charset="0"/>
              <a:buChar char="•"/>
            </a:pPr>
            <a:r>
              <a:rPr lang="cs-CZ" dirty="0"/>
              <a:t>DWF (Design Web </a:t>
            </a:r>
            <a:r>
              <a:rPr lang="cs-CZ" dirty="0" err="1"/>
              <a:t>Format</a:t>
            </a:r>
            <a:r>
              <a:rPr lang="cs-CZ" dirty="0"/>
              <a:t>)</a:t>
            </a:r>
          </a:p>
          <a:p>
            <a:pPr lvl="1">
              <a:buFont typeface="Arial" panose="020B0604020202020204" pitchFamily="34" charset="0"/>
              <a:buChar char="•"/>
            </a:pPr>
            <a:r>
              <a:rPr lang="cs-CZ" dirty="0"/>
              <a:t>Bezpečný soubor. formát – Autodesk</a:t>
            </a:r>
          </a:p>
          <a:p>
            <a:pPr lvl="1">
              <a:buFont typeface="Arial" panose="020B0604020202020204" pitchFamily="34" charset="0"/>
              <a:buChar char="•"/>
            </a:pPr>
            <a:r>
              <a:rPr lang="cs-CZ" dirty="0"/>
              <a:t>Efektivní komunikace 2D, 3D návrhových dat</a:t>
            </a:r>
          </a:p>
          <a:p>
            <a:pPr lvl="1">
              <a:buFont typeface="Arial" panose="020B0604020202020204" pitchFamily="34" charset="0"/>
              <a:buChar char="•"/>
            </a:pPr>
            <a:r>
              <a:rPr lang="cs-CZ" dirty="0"/>
              <a:t>Komprimovaná data</a:t>
            </a:r>
          </a:p>
          <a:p>
            <a:pPr lvl="1">
              <a:buFont typeface="Arial" panose="020B0604020202020204" pitchFamily="34" charset="0"/>
              <a:buChar char="•"/>
            </a:pPr>
            <a:r>
              <a:rPr lang="cs-CZ" dirty="0"/>
              <a:t>Elektronické výkresy obsahující veškeré styly atd</a:t>
            </a:r>
          </a:p>
          <a:p>
            <a:pPr>
              <a:buFont typeface="Arial" panose="020B0604020202020204" pitchFamily="34" charset="0"/>
              <a:buChar char="•"/>
            </a:pPr>
            <a:r>
              <a:rPr lang="cs-CZ" dirty="0"/>
              <a:t>OBJ – 3D – </a:t>
            </a:r>
            <a:r>
              <a:rPr lang="cs-CZ" dirty="0" err="1"/>
              <a:t>Wavefront</a:t>
            </a:r>
            <a:r>
              <a:rPr lang="cs-CZ" dirty="0"/>
              <a:t> Technologies</a:t>
            </a:r>
          </a:p>
          <a:p>
            <a:pPr lvl="1">
              <a:buFont typeface="Arial" panose="020B0604020202020204" pitchFamily="34" charset="0"/>
              <a:buChar char="•"/>
            </a:pPr>
            <a:r>
              <a:rPr lang="cs-CZ" dirty="0"/>
              <a:t>Open source formát</a:t>
            </a:r>
          </a:p>
          <a:p>
            <a:pPr lvl="1">
              <a:buFont typeface="Arial" panose="020B0604020202020204" pitchFamily="34" charset="0"/>
              <a:buChar char="•"/>
            </a:pPr>
            <a:r>
              <a:rPr lang="cs-CZ" dirty="0"/>
              <a:t>Sdílení 3D modelů mezi aplikacemi</a:t>
            </a:r>
          </a:p>
          <a:p>
            <a:pPr lvl="1">
              <a:buFont typeface="Arial" panose="020B0604020202020204" pitchFamily="34" charset="0"/>
              <a:buChar char="•"/>
            </a:pPr>
            <a:r>
              <a:rPr lang="cs-CZ" dirty="0"/>
              <a:t>Neobsahuje údaje o nastavení scény, animacích</a:t>
            </a:r>
          </a:p>
          <a:p>
            <a:pPr>
              <a:buFont typeface="Arial" panose="020B0604020202020204" pitchFamily="34" charset="0"/>
              <a:buChar char="•"/>
            </a:pPr>
            <a:r>
              <a:rPr lang="cs-CZ" dirty="0"/>
              <a:t>FLA, SWF</a:t>
            </a:r>
          </a:p>
          <a:p>
            <a:pPr lvl="1">
              <a:buFont typeface="Arial" panose="020B0604020202020204" pitchFamily="34" charset="0"/>
              <a:buChar char="•"/>
            </a:pPr>
            <a:r>
              <a:rPr lang="cs-CZ" dirty="0" err="1"/>
              <a:t>Flash</a:t>
            </a:r>
            <a:r>
              <a:rPr lang="cs-CZ" dirty="0"/>
              <a:t> animace</a:t>
            </a:r>
          </a:p>
        </p:txBody>
      </p:sp>
    </p:spTree>
    <p:extLst>
      <p:ext uri="{BB962C8B-B14F-4D97-AF65-F5344CB8AC3E}">
        <p14:creationId xmlns:p14="http://schemas.microsoft.com/office/powerpoint/2010/main" val="3138246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FF0152-2F15-4439-B264-43F420A26408}"/>
              </a:ext>
            </a:extLst>
          </p:cNvPr>
          <p:cNvSpPr>
            <a:spLocks noGrp="1"/>
          </p:cNvSpPr>
          <p:nvPr>
            <p:ph type="title"/>
          </p:nvPr>
        </p:nvSpPr>
        <p:spPr/>
        <p:txBody>
          <a:bodyPr/>
          <a:lstStyle/>
          <a:p>
            <a:r>
              <a:rPr lang="cs-CZ" dirty="0"/>
              <a:t>SVG – Vektorová grafika na webu</a:t>
            </a:r>
          </a:p>
        </p:txBody>
      </p:sp>
      <p:sp>
        <p:nvSpPr>
          <p:cNvPr id="3" name="Zástupný obsah 2">
            <a:extLst>
              <a:ext uri="{FF2B5EF4-FFF2-40B4-BE49-F238E27FC236}">
                <a16:creationId xmlns:a16="http://schemas.microsoft.com/office/drawing/2014/main" id="{2DAEA6AF-BA4D-492F-8676-A5569515C2A7}"/>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cs-CZ" dirty="0" err="1"/>
              <a:t>Scalable</a:t>
            </a:r>
            <a:r>
              <a:rPr lang="cs-CZ" dirty="0"/>
              <a:t> </a:t>
            </a:r>
            <a:r>
              <a:rPr lang="cs-CZ" dirty="0" err="1"/>
              <a:t>Vector</a:t>
            </a:r>
            <a:r>
              <a:rPr lang="cs-CZ" dirty="0"/>
              <a:t> </a:t>
            </a:r>
            <a:r>
              <a:rPr lang="cs-CZ" dirty="0" err="1"/>
              <a:t>Graphics</a:t>
            </a:r>
            <a:endParaRPr lang="cs-CZ" dirty="0"/>
          </a:p>
          <a:p>
            <a:pPr>
              <a:buFont typeface="Arial" panose="020B0604020202020204" pitchFamily="34" charset="0"/>
              <a:buChar char="•"/>
            </a:pPr>
            <a:r>
              <a:rPr lang="cs-CZ" dirty="0"/>
              <a:t>Založený na XML</a:t>
            </a:r>
          </a:p>
          <a:p>
            <a:pPr>
              <a:buFont typeface="Arial" panose="020B0604020202020204" pitchFamily="34" charset="0"/>
              <a:buChar char="•"/>
            </a:pPr>
            <a:r>
              <a:rPr lang="cs-CZ" dirty="0"/>
              <a:t>Základní otevřený formát pro vektor. graf. na webu</a:t>
            </a:r>
          </a:p>
          <a:p>
            <a:pPr>
              <a:buFont typeface="Arial" panose="020B0604020202020204" pitchFamily="34" charset="0"/>
              <a:buChar char="•"/>
            </a:pPr>
            <a:r>
              <a:rPr lang="cs-CZ" dirty="0"/>
              <a:t>3 základní typy graf. objektů:</a:t>
            </a:r>
          </a:p>
          <a:p>
            <a:pPr lvl="1">
              <a:buFont typeface="Arial" panose="020B0604020202020204" pitchFamily="34" charset="0"/>
              <a:buChar char="•"/>
            </a:pPr>
            <a:r>
              <a:rPr lang="cs-CZ" dirty="0"/>
              <a:t>Vektorové tvary (obdélník, kružnice, čára)</a:t>
            </a:r>
          </a:p>
          <a:p>
            <a:pPr lvl="1">
              <a:buFont typeface="Arial" panose="020B0604020202020204" pitchFamily="34" charset="0"/>
              <a:buChar char="•"/>
            </a:pPr>
            <a:r>
              <a:rPr lang="cs-CZ" dirty="0"/>
              <a:t>Rastrové obrazy</a:t>
            </a:r>
          </a:p>
          <a:p>
            <a:pPr lvl="1">
              <a:buFont typeface="Arial" panose="020B0604020202020204" pitchFamily="34" charset="0"/>
              <a:buChar char="•"/>
            </a:pPr>
            <a:r>
              <a:rPr lang="cs-CZ" dirty="0"/>
              <a:t>Textové objekty</a:t>
            </a:r>
          </a:p>
          <a:p>
            <a:pPr>
              <a:buFont typeface="Arial" panose="020B0604020202020204" pitchFamily="34" charset="0"/>
              <a:buChar char="•"/>
            </a:pPr>
            <a:r>
              <a:rPr lang="cs-CZ" dirty="0"/>
              <a:t>Mohou být různě seskupeny, formátovány pomocí atributů / CSS</a:t>
            </a:r>
          </a:p>
          <a:p>
            <a:pPr>
              <a:buFont typeface="Arial" panose="020B0604020202020204" pitchFamily="34" charset="0"/>
              <a:buChar char="•"/>
            </a:pPr>
            <a:r>
              <a:rPr lang="cs-CZ" dirty="0"/>
              <a:t>Podporuje ořezávání, masky, interaktivitu, filtrování</a:t>
            </a:r>
          </a:p>
          <a:p>
            <a:pPr>
              <a:buFont typeface="Arial" panose="020B0604020202020204" pitchFamily="34" charset="0"/>
              <a:buChar char="•"/>
            </a:pPr>
            <a:r>
              <a:rPr lang="cs-CZ" dirty="0"/>
              <a:t>Široká podpora</a:t>
            </a:r>
          </a:p>
          <a:p>
            <a:pPr>
              <a:buFont typeface="Arial" panose="020B0604020202020204" pitchFamily="34" charset="0"/>
              <a:buChar char="•"/>
            </a:pPr>
            <a:r>
              <a:rPr lang="cs-CZ" dirty="0"/>
              <a:t>Výchozí formát multiplatformního </a:t>
            </a:r>
            <a:r>
              <a:rPr lang="cs-CZ" dirty="0" err="1"/>
              <a:t>Inkscape</a:t>
            </a:r>
            <a:endParaRPr lang="cs-CZ" dirty="0"/>
          </a:p>
        </p:txBody>
      </p:sp>
    </p:spTree>
    <p:extLst>
      <p:ext uri="{BB962C8B-B14F-4D97-AF65-F5344CB8AC3E}">
        <p14:creationId xmlns:p14="http://schemas.microsoft.com/office/powerpoint/2010/main" val="537585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C877D16-BA90-4677-93CF-4BD9D2A8BE9A}"/>
              </a:ext>
            </a:extLst>
          </p:cNvPr>
          <p:cNvSpPr>
            <a:spLocks noGrp="1"/>
          </p:cNvSpPr>
          <p:nvPr>
            <p:ph type="title"/>
          </p:nvPr>
        </p:nvSpPr>
        <p:spPr/>
        <p:txBody>
          <a:bodyPr/>
          <a:lstStyle/>
          <a:p>
            <a:r>
              <a:rPr lang="cs-CZ" dirty="0"/>
              <a:t>Nástroje pro přesné kreslení</a:t>
            </a:r>
          </a:p>
        </p:txBody>
      </p:sp>
      <p:sp>
        <p:nvSpPr>
          <p:cNvPr id="3" name="Zástupný obsah 2">
            <a:extLst>
              <a:ext uri="{FF2B5EF4-FFF2-40B4-BE49-F238E27FC236}">
                <a16:creationId xmlns:a16="http://schemas.microsoft.com/office/drawing/2014/main" id="{8F039643-C391-4011-A72F-972A559FA8BD}"/>
              </a:ext>
            </a:extLst>
          </p:cNvPr>
          <p:cNvSpPr>
            <a:spLocks noGrp="1"/>
          </p:cNvSpPr>
          <p:nvPr>
            <p:ph idx="1"/>
          </p:nvPr>
        </p:nvSpPr>
        <p:spPr/>
        <p:txBody>
          <a:bodyPr/>
          <a:lstStyle/>
          <a:p>
            <a:pPr>
              <a:buFont typeface="Arial" panose="020B0604020202020204" pitchFamily="34" charset="0"/>
              <a:buChar char="•"/>
            </a:pPr>
            <a:r>
              <a:rPr lang="cs-CZ" dirty="0"/>
              <a:t>Mřížka a vodítka (orientace + automatické přitahování)</a:t>
            </a:r>
          </a:p>
          <a:p>
            <a:pPr>
              <a:buFont typeface="Arial" panose="020B0604020202020204" pitchFamily="34" charset="0"/>
              <a:buChar char="•"/>
            </a:pPr>
            <a:r>
              <a:rPr lang="cs-CZ" dirty="0"/>
              <a:t>Pravítka (</a:t>
            </a:r>
            <a:r>
              <a:rPr lang="cs-CZ" dirty="0" err="1"/>
              <a:t>rules</a:t>
            </a:r>
            <a:r>
              <a:rPr lang="cs-CZ" dirty="0"/>
              <a:t>)</a:t>
            </a:r>
          </a:p>
          <a:p>
            <a:pPr lvl="1">
              <a:buFont typeface="Arial" panose="020B0604020202020204" pitchFamily="34" charset="0"/>
              <a:buChar char="•"/>
            </a:pPr>
            <a:r>
              <a:rPr lang="cs-CZ" dirty="0"/>
              <a:t>Horizontální i vertikální, přesná orientace, možná změna jednotek</a:t>
            </a:r>
          </a:p>
          <a:p>
            <a:pPr>
              <a:buFont typeface="Arial" panose="020B0604020202020204" pitchFamily="34" charset="0"/>
              <a:buChar char="•"/>
            </a:pPr>
            <a:r>
              <a:rPr lang="cs-CZ" dirty="0"/>
              <a:t>Vodicí linky (</a:t>
            </a:r>
            <a:r>
              <a:rPr lang="cs-CZ" dirty="0" err="1"/>
              <a:t>guides</a:t>
            </a:r>
            <a:r>
              <a:rPr lang="cs-CZ" dirty="0"/>
              <a:t>)</a:t>
            </a:r>
          </a:p>
          <a:p>
            <a:pPr lvl="1">
              <a:buFont typeface="Arial" panose="020B0604020202020204" pitchFamily="34" charset="0"/>
              <a:buChar char="•"/>
            </a:pPr>
            <a:r>
              <a:rPr lang="cs-CZ" dirty="0"/>
              <a:t>Pomocné čáry – nejčastěji horizontální a vertikální; vytažením z pravítka (nebo preference)</a:t>
            </a:r>
          </a:p>
          <a:p>
            <a:pPr>
              <a:buFont typeface="Arial" panose="020B0604020202020204" pitchFamily="34" charset="0"/>
              <a:buChar char="•"/>
            </a:pPr>
            <a:r>
              <a:rPr lang="cs-CZ" dirty="0"/>
              <a:t>Mřížky (</a:t>
            </a:r>
            <a:r>
              <a:rPr lang="cs-CZ" dirty="0" err="1"/>
              <a:t>grids</a:t>
            </a:r>
            <a:r>
              <a:rPr lang="cs-CZ" dirty="0"/>
              <a:t>)</a:t>
            </a:r>
          </a:p>
          <a:p>
            <a:pPr lvl="1">
              <a:buFont typeface="Arial" panose="020B0604020202020204" pitchFamily="34" charset="0"/>
              <a:buChar char="•"/>
            </a:pPr>
            <a:r>
              <a:rPr lang="cs-CZ" dirty="0"/>
              <a:t>V pozadí dokumentu, usnadňují kresbu do obdélníkového (</a:t>
            </a:r>
            <a:r>
              <a:rPr lang="cs-CZ" dirty="0" err="1"/>
              <a:t>rectangular</a:t>
            </a:r>
            <a:r>
              <a:rPr lang="cs-CZ" dirty="0"/>
              <a:t>), lichoběžníkového (</a:t>
            </a:r>
            <a:r>
              <a:rPr lang="cs-CZ" dirty="0" err="1"/>
              <a:t>axonometric</a:t>
            </a:r>
            <a:r>
              <a:rPr lang="cs-CZ" dirty="0"/>
              <a:t>) systému</a:t>
            </a:r>
          </a:p>
          <a:p>
            <a:pPr>
              <a:buFont typeface="Arial" panose="020B0604020202020204" pitchFamily="34" charset="0"/>
              <a:buChar char="•"/>
            </a:pPr>
            <a:r>
              <a:rPr lang="cs-CZ" dirty="0"/>
              <a:t>Chytací režimy (</a:t>
            </a:r>
            <a:r>
              <a:rPr lang="cs-CZ" dirty="0" err="1"/>
              <a:t>snaps</a:t>
            </a:r>
            <a:r>
              <a:rPr lang="cs-CZ" dirty="0"/>
              <a:t>)</a:t>
            </a:r>
          </a:p>
          <a:p>
            <a:pPr lvl="1">
              <a:buFont typeface="Arial" panose="020B0604020202020204" pitchFamily="34" charset="0"/>
              <a:buChar char="•"/>
            </a:pPr>
            <a:r>
              <a:rPr lang="cs-CZ" dirty="0"/>
              <a:t>Volby pro zachytávání objektů na jiné objekty, body, vodítka, mřížku, podle úhlů, vzdáleností atd.</a:t>
            </a:r>
          </a:p>
          <a:p>
            <a:pPr>
              <a:buFont typeface="Arial" panose="020B0604020202020204" pitchFamily="34" charset="0"/>
              <a:buChar char="•"/>
            </a:pPr>
            <a:endParaRPr lang="cs-CZ" dirty="0"/>
          </a:p>
        </p:txBody>
      </p:sp>
    </p:spTree>
    <p:extLst>
      <p:ext uri="{BB962C8B-B14F-4D97-AF65-F5344CB8AC3E}">
        <p14:creationId xmlns:p14="http://schemas.microsoft.com/office/powerpoint/2010/main" val="261482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933027C-5758-411C-8742-4BF3CD3F3AF0}"/>
              </a:ext>
            </a:extLst>
          </p:cNvPr>
          <p:cNvSpPr>
            <a:spLocks noGrp="1"/>
          </p:cNvSpPr>
          <p:nvPr>
            <p:ph type="title"/>
          </p:nvPr>
        </p:nvSpPr>
        <p:spPr/>
        <p:txBody>
          <a:bodyPr/>
          <a:lstStyle/>
          <a:p>
            <a:r>
              <a:rPr lang="cs-CZ" dirty="0"/>
              <a:t>Práce s křivkami</a:t>
            </a:r>
          </a:p>
        </p:txBody>
      </p:sp>
      <p:sp>
        <p:nvSpPr>
          <p:cNvPr id="3" name="Zástupný obsah 2">
            <a:extLst>
              <a:ext uri="{FF2B5EF4-FFF2-40B4-BE49-F238E27FC236}">
                <a16:creationId xmlns:a16="http://schemas.microsoft.com/office/drawing/2014/main" id="{EA8C0768-84AD-495D-87B1-DABE4B8608F4}"/>
              </a:ext>
            </a:extLst>
          </p:cNvPr>
          <p:cNvSpPr>
            <a:spLocks noGrp="1"/>
          </p:cNvSpPr>
          <p:nvPr>
            <p:ph idx="1"/>
          </p:nvPr>
        </p:nvSpPr>
        <p:spPr/>
        <p:txBody>
          <a:bodyPr/>
          <a:lstStyle/>
          <a:p>
            <a:pPr>
              <a:buFont typeface="Arial" panose="020B0604020202020204" pitchFamily="34" charset="0"/>
              <a:buChar char="•"/>
            </a:pPr>
            <a:r>
              <a:rPr lang="cs-CZ" dirty="0"/>
              <a:t>Volné kreslení</a:t>
            </a:r>
          </a:p>
          <a:p>
            <a:pPr lvl="1">
              <a:buFont typeface="Arial" panose="020B0604020202020204" pitchFamily="34" charset="0"/>
              <a:buChar char="•"/>
            </a:pPr>
            <a:r>
              <a:rPr lang="cs-CZ" dirty="0"/>
              <a:t>Tah ruky se převede na posloupnost bodů spojených čarou</a:t>
            </a:r>
          </a:p>
          <a:p>
            <a:pPr>
              <a:buFont typeface="Arial" panose="020B0604020202020204" pitchFamily="34" charset="0"/>
              <a:buChar char="•"/>
            </a:pPr>
            <a:r>
              <a:rPr lang="cs-CZ" dirty="0"/>
              <a:t>Kresba pomocí </a:t>
            </a:r>
            <a:r>
              <a:rPr lang="cs-CZ" dirty="0" err="1"/>
              <a:t>Bézierových</a:t>
            </a:r>
            <a:r>
              <a:rPr lang="cs-CZ" dirty="0"/>
              <a:t> křivek</a:t>
            </a:r>
          </a:p>
          <a:p>
            <a:pPr lvl="1">
              <a:buFont typeface="Arial" panose="020B0604020202020204" pitchFamily="34" charset="0"/>
              <a:buChar char="•"/>
            </a:pPr>
            <a:r>
              <a:rPr lang="cs-CZ" dirty="0"/>
              <a:t>Určí se krajní body a směr; tažením změna směru, kliknutím nový uzlový bod, konec dvojklikem</a:t>
            </a:r>
          </a:p>
          <a:p>
            <a:pPr>
              <a:buFont typeface="Arial" panose="020B0604020202020204" pitchFamily="34" charset="0"/>
              <a:buChar char="•"/>
            </a:pPr>
            <a:r>
              <a:rPr lang="cs-CZ" dirty="0"/>
              <a:t>Kaligrafická kresba</a:t>
            </a:r>
          </a:p>
          <a:p>
            <a:pPr lvl="1">
              <a:buFont typeface="Arial" panose="020B0604020202020204" pitchFamily="34" charset="0"/>
              <a:buChar char="•"/>
            </a:pPr>
            <a:r>
              <a:rPr lang="cs-CZ" dirty="0"/>
              <a:t>Kresba podle ruky, napodobuje kresbu kaligraf. štětcem širší a tenčí stopy v různých směrech</a:t>
            </a:r>
          </a:p>
          <a:p>
            <a:pPr>
              <a:buFont typeface="Arial" panose="020B0604020202020204" pitchFamily="34" charset="0"/>
              <a:buChar char="•"/>
            </a:pPr>
            <a:r>
              <a:rPr lang="cs-CZ" dirty="0"/>
              <a:t>Výsledná křivka = cesta (posloupnost úseček / B. křivek)</a:t>
            </a:r>
          </a:p>
          <a:p>
            <a:pPr lvl="1">
              <a:buFont typeface="Arial" panose="020B0604020202020204" pitchFamily="34" charset="0"/>
              <a:buChar char="•"/>
            </a:pPr>
            <a:r>
              <a:rPr lang="cs-CZ" dirty="0"/>
              <a:t>Možno tvarovat pomocí uzlů, přidat / mazat uzly, spojovat, převést úsečky na křivky atd.</a:t>
            </a:r>
          </a:p>
        </p:txBody>
      </p:sp>
    </p:spTree>
    <p:extLst>
      <p:ext uri="{BB962C8B-B14F-4D97-AF65-F5344CB8AC3E}">
        <p14:creationId xmlns:p14="http://schemas.microsoft.com/office/powerpoint/2010/main" val="332165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69343DB-60AA-4198-A4E5-791BC95C614E}"/>
              </a:ext>
            </a:extLst>
          </p:cNvPr>
          <p:cNvSpPr>
            <a:spLocks noGrp="1"/>
          </p:cNvSpPr>
          <p:nvPr>
            <p:ph type="title"/>
          </p:nvPr>
        </p:nvSpPr>
        <p:spPr/>
        <p:txBody>
          <a:bodyPr/>
          <a:lstStyle/>
          <a:p>
            <a:r>
              <a:rPr lang="cs-CZ" dirty="0"/>
              <a:t>Manipulace s objekty</a:t>
            </a:r>
          </a:p>
        </p:txBody>
      </p:sp>
      <p:sp>
        <p:nvSpPr>
          <p:cNvPr id="3" name="Zástupný obsah 2">
            <a:extLst>
              <a:ext uri="{FF2B5EF4-FFF2-40B4-BE49-F238E27FC236}">
                <a16:creationId xmlns:a16="http://schemas.microsoft.com/office/drawing/2014/main" id="{055E4952-CC93-421D-992C-A564F246A1D1}"/>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cs-CZ" dirty="0"/>
              <a:t>Základní geometrické útvary</a:t>
            </a:r>
          </a:p>
          <a:p>
            <a:pPr>
              <a:buFont typeface="Arial" panose="020B0604020202020204" pitchFamily="34" charset="0"/>
              <a:buChar char="•"/>
            </a:pPr>
            <a:r>
              <a:rPr lang="cs-CZ" dirty="0"/>
              <a:t>Složitější vznikají pomocí operací z ostatních útvarů / textů</a:t>
            </a:r>
          </a:p>
          <a:p>
            <a:pPr>
              <a:buFont typeface="Arial" panose="020B0604020202020204" pitchFamily="34" charset="0"/>
              <a:buChar char="•"/>
            </a:pPr>
            <a:r>
              <a:rPr lang="cs-CZ" dirty="0"/>
              <a:t>Vše je možno konvertovat na křivku</a:t>
            </a:r>
          </a:p>
          <a:p>
            <a:pPr lvl="1">
              <a:buFont typeface="Arial" panose="020B0604020202020204" pitchFamily="34" charset="0"/>
              <a:buChar char="•"/>
            </a:pPr>
            <a:r>
              <a:rPr lang="cs-CZ" dirty="0"/>
              <a:t>Nemění vzhled, ale odstraňuje možnosti (např. už nejde zaoblit rohy, měnit text atd)</a:t>
            </a:r>
          </a:p>
          <a:p>
            <a:pPr>
              <a:buFont typeface="Arial" panose="020B0604020202020204" pitchFamily="34" charset="0"/>
              <a:buChar char="•"/>
            </a:pPr>
            <a:r>
              <a:rPr lang="cs-CZ" dirty="0"/>
              <a:t>Otevřené (čáry, křivky) / Uzavřené (elipsy, obdélníky atd)</a:t>
            </a:r>
          </a:p>
          <a:p>
            <a:pPr>
              <a:buFont typeface="Arial" panose="020B0604020202020204" pitchFamily="34" charset="0"/>
              <a:buChar char="•"/>
            </a:pPr>
            <a:r>
              <a:rPr lang="cs-CZ" dirty="0"/>
              <a:t>Všechny objekty mohou mít obrys</a:t>
            </a:r>
          </a:p>
          <a:p>
            <a:pPr lvl="1">
              <a:buFont typeface="Arial" panose="020B0604020202020204" pitchFamily="34" charset="0"/>
              <a:buChar char="•"/>
            </a:pPr>
            <a:r>
              <a:rPr lang="cs-CZ" dirty="0"/>
              <a:t>lze nastavit barvu, tloušťku, vzor (plný, tečkovaný…), způsob zakončení (šipky atd)</a:t>
            </a:r>
          </a:p>
          <a:p>
            <a:pPr>
              <a:buFont typeface="Arial" panose="020B0604020202020204" pitchFamily="34" charset="0"/>
              <a:buChar char="•"/>
            </a:pPr>
            <a:r>
              <a:rPr lang="cs-CZ" dirty="0"/>
              <a:t>Mohou mít i výplň</a:t>
            </a:r>
          </a:p>
          <a:p>
            <a:pPr>
              <a:buFont typeface="Arial" panose="020B0604020202020204" pitchFamily="34" charset="0"/>
              <a:buChar char="•"/>
            </a:pPr>
            <a:r>
              <a:rPr lang="cs-CZ" dirty="0"/>
              <a:t>Každý objekt je ve vlastní vrstvě</a:t>
            </a:r>
          </a:p>
          <a:p>
            <a:pPr>
              <a:buFont typeface="Arial" panose="020B0604020202020204" pitchFamily="34" charset="0"/>
              <a:buChar char="•"/>
            </a:pPr>
            <a:r>
              <a:rPr lang="cs-CZ" dirty="0"/>
              <a:t>Lze přidávat efekty, automaticky generovat objekty, přidávat perspektivu, stín…</a:t>
            </a:r>
          </a:p>
          <a:p>
            <a:pPr>
              <a:buFont typeface="Arial" panose="020B0604020202020204" pitchFamily="34" charset="0"/>
              <a:buChar char="•"/>
            </a:pPr>
            <a:r>
              <a:rPr lang="cs-CZ" dirty="0"/>
              <a:t>Pomocí vrstev – manipulace se vzájemnou polohou</a:t>
            </a:r>
          </a:p>
          <a:p>
            <a:pPr>
              <a:buFont typeface="Arial" panose="020B0604020202020204" pitchFamily="34" charset="0"/>
              <a:buChar char="•"/>
            </a:pPr>
            <a:r>
              <a:rPr lang="cs-CZ" dirty="0"/>
              <a:t>Snadné duplikování / klonování, zarovnání, zrcadlení, změna pořadí, seskupení / rozdělení</a:t>
            </a:r>
          </a:p>
        </p:txBody>
      </p:sp>
    </p:spTree>
    <p:extLst>
      <p:ext uri="{BB962C8B-B14F-4D97-AF65-F5344CB8AC3E}">
        <p14:creationId xmlns:p14="http://schemas.microsoft.com/office/powerpoint/2010/main" val="1757029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870BC04-6512-4BB5-9B9C-76E0F48A50D6}"/>
              </a:ext>
            </a:extLst>
          </p:cNvPr>
          <p:cNvSpPr>
            <a:spLocks noGrp="1"/>
          </p:cNvSpPr>
          <p:nvPr>
            <p:ph type="title"/>
          </p:nvPr>
        </p:nvSpPr>
        <p:spPr/>
        <p:txBody>
          <a:bodyPr/>
          <a:lstStyle/>
          <a:p>
            <a:r>
              <a:rPr lang="cs-CZ" dirty="0"/>
              <a:t>Logické operace</a:t>
            </a:r>
          </a:p>
        </p:txBody>
      </p:sp>
      <p:sp>
        <p:nvSpPr>
          <p:cNvPr id="3" name="Zástupný obsah 2">
            <a:extLst>
              <a:ext uri="{FF2B5EF4-FFF2-40B4-BE49-F238E27FC236}">
                <a16:creationId xmlns:a16="http://schemas.microsoft.com/office/drawing/2014/main" id="{BF87558B-34F1-49D9-B301-FB266A0C4B65}"/>
              </a:ext>
            </a:extLst>
          </p:cNvPr>
          <p:cNvSpPr>
            <a:spLocks noGrp="1"/>
          </p:cNvSpPr>
          <p:nvPr>
            <p:ph idx="1"/>
          </p:nvPr>
        </p:nvSpPr>
        <p:spPr/>
        <p:txBody>
          <a:bodyPr/>
          <a:lstStyle/>
          <a:p>
            <a:pPr>
              <a:buFont typeface="Arial" panose="020B0604020202020204" pitchFamily="34" charset="0"/>
              <a:buChar char="•"/>
            </a:pPr>
            <a:r>
              <a:rPr lang="cs-CZ" dirty="0"/>
              <a:t>S překrývajícími se objekty lze provádět </a:t>
            </a:r>
            <a:r>
              <a:rPr lang="cs-CZ" b="1" dirty="0"/>
              <a:t>logické operace</a:t>
            </a:r>
          </a:p>
          <a:p>
            <a:pPr>
              <a:buFont typeface="Arial" panose="020B0604020202020204" pitchFamily="34" charset="0"/>
              <a:buChar char="•"/>
            </a:pPr>
            <a:r>
              <a:rPr lang="cs-CZ" dirty="0"/>
              <a:t>Průnik</a:t>
            </a:r>
          </a:p>
          <a:p>
            <a:pPr>
              <a:buFont typeface="Arial" panose="020B0604020202020204" pitchFamily="34" charset="0"/>
              <a:buChar char="•"/>
            </a:pPr>
            <a:r>
              <a:rPr lang="cs-CZ" dirty="0"/>
              <a:t>Sjednocení</a:t>
            </a:r>
          </a:p>
          <a:p>
            <a:pPr>
              <a:buFont typeface="Arial" panose="020B0604020202020204" pitchFamily="34" charset="0"/>
              <a:buChar char="•"/>
            </a:pPr>
            <a:r>
              <a:rPr lang="cs-CZ" dirty="0"/>
              <a:t>Ořez</a:t>
            </a:r>
          </a:p>
          <a:p>
            <a:pPr>
              <a:buFont typeface="Arial" panose="020B0604020202020204" pitchFamily="34" charset="0"/>
              <a:buChar char="•"/>
            </a:pPr>
            <a:r>
              <a:rPr lang="cs-CZ" dirty="0"/>
              <a:t>XOR</a:t>
            </a:r>
          </a:p>
          <a:p>
            <a:pPr>
              <a:buFont typeface="Arial" panose="020B0604020202020204" pitchFamily="34" charset="0"/>
              <a:buChar char="•"/>
            </a:pPr>
            <a:r>
              <a:rPr lang="cs-CZ" dirty="0"/>
              <a:t>Dělení</a:t>
            </a:r>
          </a:p>
        </p:txBody>
      </p:sp>
      <p:pic>
        <p:nvPicPr>
          <p:cNvPr id="5" name="Obrázek 4">
            <a:extLst>
              <a:ext uri="{FF2B5EF4-FFF2-40B4-BE49-F238E27FC236}">
                <a16:creationId xmlns:a16="http://schemas.microsoft.com/office/drawing/2014/main" id="{66518EE2-1D23-4B70-AE36-4C87404BDB98}"/>
              </a:ext>
            </a:extLst>
          </p:cNvPr>
          <p:cNvPicPr>
            <a:picLocks noChangeAspect="1"/>
          </p:cNvPicPr>
          <p:nvPr/>
        </p:nvPicPr>
        <p:blipFill>
          <a:blip r:embed="rId2"/>
          <a:stretch>
            <a:fillRect/>
          </a:stretch>
        </p:blipFill>
        <p:spPr>
          <a:xfrm>
            <a:off x="3591300" y="2723763"/>
            <a:ext cx="5009400" cy="3585597"/>
          </a:xfrm>
          <a:prstGeom prst="rect">
            <a:avLst/>
          </a:prstGeom>
        </p:spPr>
      </p:pic>
    </p:spTree>
    <p:extLst>
      <p:ext uri="{BB962C8B-B14F-4D97-AF65-F5344CB8AC3E}">
        <p14:creationId xmlns:p14="http://schemas.microsoft.com/office/powerpoint/2010/main" val="1854785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0E6FF5F-56E3-4EEF-A99C-D54E9AF65DB3}"/>
              </a:ext>
            </a:extLst>
          </p:cNvPr>
          <p:cNvSpPr>
            <a:spLocks noGrp="1"/>
          </p:cNvSpPr>
          <p:nvPr>
            <p:ph type="title"/>
          </p:nvPr>
        </p:nvSpPr>
        <p:spPr/>
        <p:txBody>
          <a:bodyPr/>
          <a:lstStyle/>
          <a:p>
            <a:r>
              <a:rPr lang="cs-CZ" dirty="0"/>
              <a:t>CA technologie</a:t>
            </a:r>
          </a:p>
        </p:txBody>
      </p:sp>
      <p:sp>
        <p:nvSpPr>
          <p:cNvPr id="3" name="Zástupný obsah 2">
            <a:extLst>
              <a:ext uri="{FF2B5EF4-FFF2-40B4-BE49-F238E27FC236}">
                <a16:creationId xmlns:a16="http://schemas.microsoft.com/office/drawing/2014/main" id="{689D1EEE-07B5-4955-B0DF-8BE82E3F6B92}"/>
              </a:ext>
            </a:extLst>
          </p:cNvPr>
          <p:cNvSpPr>
            <a:spLocks noGrp="1"/>
          </p:cNvSpPr>
          <p:nvPr>
            <p:ph idx="1"/>
          </p:nvPr>
        </p:nvSpPr>
        <p:spPr/>
        <p:txBody>
          <a:bodyPr/>
          <a:lstStyle/>
          <a:p>
            <a:pPr>
              <a:buFont typeface="Arial" panose="020B0604020202020204" pitchFamily="34" charset="0"/>
              <a:buChar char="•"/>
            </a:pPr>
            <a:r>
              <a:rPr lang="cs-CZ" dirty="0" err="1"/>
              <a:t>Computer</a:t>
            </a:r>
            <a:r>
              <a:rPr lang="cs-CZ" dirty="0"/>
              <a:t> </a:t>
            </a:r>
            <a:r>
              <a:rPr lang="cs-CZ" dirty="0" err="1"/>
              <a:t>Aided</a:t>
            </a:r>
            <a:r>
              <a:rPr lang="cs-CZ" dirty="0"/>
              <a:t> technologie – využití </a:t>
            </a:r>
            <a:r>
              <a:rPr lang="cs-CZ" dirty="0" err="1"/>
              <a:t>pc</a:t>
            </a:r>
            <a:r>
              <a:rPr lang="cs-CZ" dirty="0"/>
              <a:t> v průmyslu</a:t>
            </a:r>
          </a:p>
        </p:txBody>
      </p:sp>
      <p:pic>
        <p:nvPicPr>
          <p:cNvPr id="5" name="Obrázek 4">
            <a:extLst>
              <a:ext uri="{FF2B5EF4-FFF2-40B4-BE49-F238E27FC236}">
                <a16:creationId xmlns:a16="http://schemas.microsoft.com/office/drawing/2014/main" id="{514F5ABE-05B5-470B-8F5D-DB38BB4D8E3B}"/>
              </a:ext>
            </a:extLst>
          </p:cNvPr>
          <p:cNvPicPr>
            <a:picLocks noChangeAspect="1"/>
          </p:cNvPicPr>
          <p:nvPr/>
        </p:nvPicPr>
        <p:blipFill>
          <a:blip r:embed="rId2"/>
          <a:stretch>
            <a:fillRect/>
          </a:stretch>
        </p:blipFill>
        <p:spPr>
          <a:xfrm>
            <a:off x="2553369" y="2831031"/>
            <a:ext cx="7085261" cy="2933298"/>
          </a:xfrm>
          <a:prstGeom prst="rect">
            <a:avLst/>
          </a:prstGeom>
        </p:spPr>
      </p:pic>
    </p:spTree>
    <p:extLst>
      <p:ext uri="{BB962C8B-B14F-4D97-AF65-F5344CB8AC3E}">
        <p14:creationId xmlns:p14="http://schemas.microsoft.com/office/powerpoint/2010/main" val="1084220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5CEB277-D2DA-4B53-B0F0-BEACAF4CBD26}"/>
              </a:ext>
            </a:extLst>
          </p:cNvPr>
          <p:cNvSpPr>
            <a:spLocks noGrp="1"/>
          </p:cNvSpPr>
          <p:nvPr>
            <p:ph type="title"/>
          </p:nvPr>
        </p:nvSpPr>
        <p:spPr/>
        <p:txBody>
          <a:bodyPr/>
          <a:lstStyle/>
          <a:p>
            <a:r>
              <a:rPr lang="cs-CZ" dirty="0"/>
              <a:t>Generace </a:t>
            </a:r>
            <a:r>
              <a:rPr lang="cs-CZ" dirty="0" err="1"/>
              <a:t>cad</a:t>
            </a:r>
            <a:r>
              <a:rPr lang="cs-CZ" dirty="0"/>
              <a:t> programů</a:t>
            </a:r>
          </a:p>
        </p:txBody>
      </p:sp>
      <p:sp>
        <p:nvSpPr>
          <p:cNvPr id="3" name="Zástupný obsah 2">
            <a:extLst>
              <a:ext uri="{FF2B5EF4-FFF2-40B4-BE49-F238E27FC236}">
                <a16:creationId xmlns:a16="http://schemas.microsoft.com/office/drawing/2014/main" id="{986D85A1-1824-4E81-A783-7CDB6CFFE14A}"/>
              </a:ext>
            </a:extLst>
          </p:cNvPr>
          <p:cNvSpPr>
            <a:spLocks noGrp="1"/>
          </p:cNvSpPr>
          <p:nvPr>
            <p:ph idx="1"/>
          </p:nvPr>
        </p:nvSpPr>
        <p:spPr/>
        <p:txBody>
          <a:bodyPr>
            <a:normAutofit fontScale="85000" lnSpcReduction="20000"/>
          </a:bodyPr>
          <a:lstStyle/>
          <a:p>
            <a:pPr marL="0" indent="0">
              <a:buNone/>
            </a:pPr>
            <a:r>
              <a:rPr lang="cs-CZ" dirty="0"/>
              <a:t>1. Generace</a:t>
            </a:r>
          </a:p>
          <a:p>
            <a:pPr lvl="1">
              <a:buFont typeface="Arial" panose="020B0604020202020204" pitchFamily="34" charset="0"/>
              <a:buChar char="•"/>
            </a:pPr>
            <a:r>
              <a:rPr lang="cs-CZ" dirty="0"/>
              <a:t>Pro 2D konstrukci (max 2 rozměry) – náčrty, např </a:t>
            </a:r>
            <a:r>
              <a:rPr lang="cs-CZ" dirty="0" err="1"/>
              <a:t>AutoCAD</a:t>
            </a:r>
            <a:r>
              <a:rPr lang="cs-CZ" dirty="0"/>
              <a:t> LT (lite) – ne pro prostorové modely, jen klasická výkresová dokumentace</a:t>
            </a:r>
          </a:p>
          <a:p>
            <a:pPr marL="0" indent="0">
              <a:buNone/>
            </a:pPr>
            <a:r>
              <a:rPr lang="cs-CZ" dirty="0"/>
              <a:t>2. Generace</a:t>
            </a:r>
          </a:p>
          <a:p>
            <a:pPr lvl="1">
              <a:buFont typeface="Arial" panose="020B0604020202020204" pitchFamily="34" charset="0"/>
              <a:buChar char="•"/>
            </a:pPr>
            <a:r>
              <a:rPr lang="cs-CZ" dirty="0"/>
              <a:t>S podporou klasického modelování (nejpoužívanější)</a:t>
            </a:r>
          </a:p>
          <a:p>
            <a:pPr lvl="1">
              <a:buFont typeface="Arial" panose="020B0604020202020204" pitchFamily="34" charset="0"/>
              <a:buChar char="•"/>
            </a:pPr>
            <a:r>
              <a:rPr lang="cs-CZ" dirty="0"/>
              <a:t>Univerzálně použitelné, propracované UI, </a:t>
            </a:r>
            <a:r>
              <a:rPr lang="cs-CZ" dirty="0" err="1"/>
              <a:t>AutoCAD</a:t>
            </a:r>
            <a:r>
              <a:rPr lang="cs-CZ" dirty="0"/>
              <a:t>, </a:t>
            </a:r>
            <a:r>
              <a:rPr lang="cs-CZ" dirty="0" err="1"/>
              <a:t>MicroStation</a:t>
            </a:r>
            <a:r>
              <a:rPr lang="cs-CZ" dirty="0"/>
              <a:t>; prostorový modelář s otevřenou architekturou; pro elektrotechniku např EPLAN, pro matematiku MATLAB atd</a:t>
            </a:r>
          </a:p>
          <a:p>
            <a:pPr marL="0" indent="0">
              <a:buNone/>
            </a:pPr>
            <a:r>
              <a:rPr lang="cs-CZ" dirty="0"/>
              <a:t>3. Generace – CAD/CAM/CAE</a:t>
            </a:r>
          </a:p>
          <a:p>
            <a:pPr lvl="1">
              <a:buFont typeface="Arial" panose="020B0604020202020204" pitchFamily="34" charset="0"/>
              <a:buChar char="•"/>
            </a:pPr>
            <a:r>
              <a:rPr lang="cs-CZ" dirty="0"/>
              <a:t>Parametrické modelování – všeobecné strojírenství a  stavebnictví, </a:t>
            </a:r>
            <a:r>
              <a:rPr lang="cs-CZ" dirty="0" err="1"/>
              <a:t>SolidWorks</a:t>
            </a:r>
            <a:r>
              <a:rPr lang="cs-CZ" dirty="0"/>
              <a:t>, Inventor, </a:t>
            </a:r>
            <a:r>
              <a:rPr lang="cs-CZ" dirty="0" err="1"/>
              <a:t>SolidEdge</a:t>
            </a:r>
            <a:r>
              <a:rPr lang="cs-CZ" dirty="0"/>
              <a:t>; pro </a:t>
            </a:r>
            <a:r>
              <a:rPr lang="cs-CZ" dirty="0" err="1"/>
              <a:t>stavebnictnví</a:t>
            </a:r>
            <a:r>
              <a:rPr lang="cs-CZ" dirty="0"/>
              <a:t> Autodesk </a:t>
            </a:r>
            <a:r>
              <a:rPr lang="cs-CZ" dirty="0" err="1"/>
              <a:t>Revit</a:t>
            </a:r>
            <a:r>
              <a:rPr lang="cs-CZ" dirty="0"/>
              <a:t>; propracovaná metodika obsluhy, snadné osvojení funkcí, pro Windows</a:t>
            </a:r>
          </a:p>
          <a:p>
            <a:pPr marL="0" indent="0">
              <a:buNone/>
            </a:pPr>
            <a:r>
              <a:rPr lang="cs-CZ" dirty="0"/>
              <a:t>4. Generace – CAD/CAM/CAE se správou dat o výrobku</a:t>
            </a:r>
          </a:p>
          <a:p>
            <a:pPr lvl="1">
              <a:buFont typeface="Arial" panose="020B0604020202020204" pitchFamily="34" charset="0"/>
              <a:buChar char="•"/>
            </a:pPr>
            <a:r>
              <a:rPr lang="cs-CZ" dirty="0"/>
              <a:t>Výhradně strojírenství; postaven na </a:t>
            </a:r>
            <a:r>
              <a:rPr lang="cs-CZ" dirty="0" err="1"/>
              <a:t>param</a:t>
            </a:r>
            <a:r>
              <a:rPr lang="cs-CZ" dirty="0"/>
              <a:t>. základech a otevřené architektuře</a:t>
            </a:r>
          </a:p>
          <a:p>
            <a:pPr lvl="1">
              <a:buFont typeface="Arial" panose="020B0604020202020204" pitchFamily="34" charset="0"/>
              <a:buChar char="•"/>
            </a:pPr>
            <a:r>
              <a:rPr lang="cs-CZ" dirty="0"/>
              <a:t>Výrazná podpora komunikace a provázanost fází tvorby výrobku</a:t>
            </a:r>
          </a:p>
          <a:p>
            <a:pPr lvl="1">
              <a:buFont typeface="Arial" panose="020B0604020202020204" pitchFamily="34" charset="0"/>
              <a:buChar char="•"/>
            </a:pPr>
            <a:r>
              <a:rPr lang="cs-CZ" dirty="0"/>
              <a:t>Jádro – modelář – geometrická data pro zpracování virtuálního prototypu</a:t>
            </a:r>
          </a:p>
          <a:p>
            <a:pPr lvl="1">
              <a:buFont typeface="Arial" panose="020B0604020202020204" pitchFamily="34" charset="0"/>
              <a:buChar char="•"/>
            </a:pPr>
            <a:r>
              <a:rPr lang="cs-CZ" dirty="0"/>
              <a:t>Zachycení záměru, snadná obsluha, práce v týmu, přehledná správa informací pomocí PDM; Pro/ENGINEER, </a:t>
            </a:r>
            <a:r>
              <a:rPr lang="cs-CZ" dirty="0" err="1"/>
              <a:t>Catia</a:t>
            </a:r>
            <a:r>
              <a:rPr lang="cs-CZ" dirty="0"/>
              <a:t>, NX</a:t>
            </a:r>
          </a:p>
          <a:p>
            <a:pPr marL="457200" indent="-457200">
              <a:buAutoNum type="arabicPeriod"/>
            </a:pPr>
            <a:endParaRPr lang="cs-CZ" dirty="0"/>
          </a:p>
        </p:txBody>
      </p:sp>
    </p:spTree>
    <p:extLst>
      <p:ext uri="{BB962C8B-B14F-4D97-AF65-F5344CB8AC3E}">
        <p14:creationId xmlns:p14="http://schemas.microsoft.com/office/powerpoint/2010/main" val="2420240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3AEF8EC-7656-4B1D-A09A-1EA6FDF8FB5B}"/>
              </a:ext>
            </a:extLst>
          </p:cNvPr>
          <p:cNvSpPr>
            <a:spLocks noGrp="1"/>
          </p:cNvSpPr>
          <p:nvPr>
            <p:ph type="title"/>
          </p:nvPr>
        </p:nvSpPr>
        <p:spPr/>
        <p:txBody>
          <a:bodyPr/>
          <a:lstStyle/>
          <a:p>
            <a:r>
              <a:rPr lang="cs-CZ" dirty="0"/>
              <a:t>Parametrické modelování</a:t>
            </a:r>
          </a:p>
        </p:txBody>
      </p:sp>
      <p:sp>
        <p:nvSpPr>
          <p:cNvPr id="3" name="Zástupný obsah 2">
            <a:extLst>
              <a:ext uri="{FF2B5EF4-FFF2-40B4-BE49-F238E27FC236}">
                <a16:creationId xmlns:a16="http://schemas.microsoft.com/office/drawing/2014/main" id="{D5DE948E-9330-46D5-82FF-FB300394274F}"/>
              </a:ext>
            </a:extLst>
          </p:cNvPr>
          <p:cNvSpPr>
            <a:spLocks noGrp="1"/>
          </p:cNvSpPr>
          <p:nvPr>
            <p:ph idx="1"/>
          </p:nvPr>
        </p:nvSpPr>
        <p:spPr/>
        <p:txBody>
          <a:bodyPr>
            <a:normAutofit lnSpcReduction="10000"/>
          </a:bodyPr>
          <a:lstStyle/>
          <a:p>
            <a:pPr>
              <a:buFont typeface="Arial" panose="020B0604020202020204" pitchFamily="34" charset="0"/>
              <a:buChar char="•"/>
            </a:pPr>
            <a:r>
              <a:rPr lang="cs-CZ" dirty="0"/>
              <a:t>Param. model – matematicky popsán pomocí </a:t>
            </a:r>
            <a:r>
              <a:rPr lang="cs-CZ" dirty="0" err="1"/>
              <a:t>param</a:t>
            </a:r>
            <a:r>
              <a:rPr lang="cs-CZ" dirty="0"/>
              <a:t>.; definovány charakteristiky jeho </a:t>
            </a:r>
            <a:r>
              <a:rPr lang="cs-CZ" dirty="0" err="1"/>
              <a:t>geom</a:t>
            </a:r>
            <a:r>
              <a:rPr lang="cs-CZ" dirty="0"/>
              <a:t>. částí a vzájemné vztahy</a:t>
            </a:r>
          </a:p>
          <a:p>
            <a:pPr>
              <a:buFont typeface="Arial" panose="020B0604020202020204" pitchFamily="34" charset="0"/>
              <a:buChar char="•"/>
            </a:pPr>
            <a:r>
              <a:rPr lang="cs-CZ" dirty="0"/>
              <a:t>Rozměry nejsou konkrétní, ale pomocí proměnných – výpočet výsledných rozměrů</a:t>
            </a:r>
          </a:p>
          <a:p>
            <a:pPr>
              <a:buFont typeface="Arial" panose="020B0604020202020204" pitchFamily="34" charset="0"/>
              <a:buChar char="•"/>
            </a:pPr>
            <a:r>
              <a:rPr lang="cs-CZ" dirty="0"/>
              <a:t>Jádro CAD systémů – parametrický modelář – pro modelování – lze využít načrtnutých a umisťovaných konstrukčních prvků, generátoru součástí, </a:t>
            </a:r>
            <a:r>
              <a:rPr lang="cs-CZ" dirty="0" err="1"/>
              <a:t>db</a:t>
            </a:r>
            <a:r>
              <a:rPr lang="cs-CZ" dirty="0"/>
              <a:t> normálií</a:t>
            </a:r>
          </a:p>
          <a:p>
            <a:pPr>
              <a:buFont typeface="Arial" panose="020B0604020202020204" pitchFamily="34" charset="0"/>
              <a:buChar char="•"/>
            </a:pPr>
            <a:r>
              <a:rPr lang="cs-CZ" dirty="0"/>
              <a:t>Konstruktér, návrhář – začíná od prostorového modelu – často pomocí náčrtů, prvků bez ohledu na prvotní přesné rozměry</a:t>
            </a:r>
          </a:p>
          <a:p>
            <a:pPr>
              <a:buFont typeface="Arial" panose="020B0604020202020204" pitchFamily="34" charset="0"/>
              <a:buChar char="•"/>
            </a:pPr>
            <a:r>
              <a:rPr lang="cs-CZ" dirty="0"/>
              <a:t>Největší uplatnění 3D modelování – strojírenství, architektura, animace</a:t>
            </a:r>
          </a:p>
          <a:p>
            <a:pPr>
              <a:buFont typeface="Arial" panose="020B0604020202020204" pitchFamily="34" charset="0"/>
              <a:buChar char="•"/>
            </a:pPr>
            <a:r>
              <a:rPr lang="cs-CZ" dirty="0"/>
              <a:t>Otevřená architektura – umožňuje začlenit i jiný software, načítat data z jiných programů, optimalizaci, programování svých modulů – např pomocí vývoj, nástrojů založených na LISP</a:t>
            </a:r>
          </a:p>
        </p:txBody>
      </p:sp>
    </p:spTree>
    <p:extLst>
      <p:ext uri="{BB962C8B-B14F-4D97-AF65-F5344CB8AC3E}">
        <p14:creationId xmlns:p14="http://schemas.microsoft.com/office/powerpoint/2010/main" val="233612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C383144-945B-45A9-8DF9-168428AD11E7}"/>
              </a:ext>
            </a:extLst>
          </p:cNvPr>
          <p:cNvPicPr>
            <a:picLocks noChangeAspect="1"/>
          </p:cNvPicPr>
          <p:nvPr/>
        </p:nvPicPr>
        <p:blipFill>
          <a:blip r:embed="rId2"/>
          <a:stretch>
            <a:fillRect/>
          </a:stretch>
        </p:blipFill>
        <p:spPr>
          <a:xfrm>
            <a:off x="67066" y="1027970"/>
            <a:ext cx="6028934" cy="4241594"/>
          </a:xfrm>
          <a:prstGeom prst="rect">
            <a:avLst/>
          </a:prstGeom>
        </p:spPr>
      </p:pic>
      <p:pic>
        <p:nvPicPr>
          <p:cNvPr id="7" name="Obrázek 6">
            <a:extLst>
              <a:ext uri="{FF2B5EF4-FFF2-40B4-BE49-F238E27FC236}">
                <a16:creationId xmlns:a16="http://schemas.microsoft.com/office/drawing/2014/main" id="{04D8E4A3-C2F6-4753-BEC2-D6F6D4ADD5CB}"/>
              </a:ext>
            </a:extLst>
          </p:cNvPr>
          <p:cNvPicPr>
            <a:picLocks noChangeAspect="1"/>
          </p:cNvPicPr>
          <p:nvPr/>
        </p:nvPicPr>
        <p:blipFill>
          <a:blip r:embed="rId3"/>
          <a:stretch>
            <a:fillRect/>
          </a:stretch>
        </p:blipFill>
        <p:spPr>
          <a:xfrm>
            <a:off x="6096000" y="1588435"/>
            <a:ext cx="6028934" cy="3681129"/>
          </a:xfrm>
          <a:prstGeom prst="rect">
            <a:avLst/>
          </a:prstGeom>
        </p:spPr>
      </p:pic>
    </p:spTree>
    <p:extLst>
      <p:ext uri="{BB962C8B-B14F-4D97-AF65-F5344CB8AC3E}">
        <p14:creationId xmlns:p14="http://schemas.microsoft.com/office/powerpoint/2010/main" val="1906565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5D9CFB0-F657-480F-AE16-DF0C0E6D0E77}"/>
              </a:ext>
            </a:extLst>
          </p:cNvPr>
          <p:cNvSpPr>
            <a:spLocks noGrp="1"/>
          </p:cNvSpPr>
          <p:nvPr>
            <p:ph type="title"/>
          </p:nvPr>
        </p:nvSpPr>
        <p:spPr/>
        <p:txBody>
          <a:bodyPr/>
          <a:lstStyle/>
          <a:p>
            <a:r>
              <a:rPr lang="cs-CZ" dirty="0"/>
              <a:t>Nástroje pro vektorové kreslení a modelování</a:t>
            </a:r>
          </a:p>
        </p:txBody>
      </p:sp>
      <p:sp>
        <p:nvSpPr>
          <p:cNvPr id="3" name="Zástupný obsah 2">
            <a:extLst>
              <a:ext uri="{FF2B5EF4-FFF2-40B4-BE49-F238E27FC236}">
                <a16:creationId xmlns:a16="http://schemas.microsoft.com/office/drawing/2014/main" id="{FB43CE3E-D763-4113-8D85-DB5622287A2E}"/>
              </a:ext>
            </a:extLst>
          </p:cNvPr>
          <p:cNvSpPr>
            <a:spLocks noGrp="1"/>
          </p:cNvSpPr>
          <p:nvPr>
            <p:ph idx="1"/>
          </p:nvPr>
        </p:nvSpPr>
        <p:spPr/>
        <p:txBody>
          <a:bodyPr/>
          <a:lstStyle/>
          <a:p>
            <a:pPr>
              <a:buFont typeface="Arial" panose="020B0604020202020204" pitchFamily="34" charset="0"/>
              <a:buChar char="•"/>
            </a:pPr>
            <a:r>
              <a:rPr lang="cs-CZ" dirty="0"/>
              <a:t>Hladiny (</a:t>
            </a:r>
            <a:r>
              <a:rPr lang="cs-CZ" dirty="0" err="1"/>
              <a:t>layers</a:t>
            </a:r>
            <a:r>
              <a:rPr lang="cs-CZ" dirty="0"/>
              <a:t>)</a:t>
            </a:r>
          </a:p>
          <a:p>
            <a:pPr lvl="1">
              <a:buFont typeface="Arial" panose="020B0604020202020204" pitchFamily="34" charset="0"/>
              <a:buChar char="•"/>
            </a:pPr>
            <a:r>
              <a:rPr lang="cs-CZ" dirty="0"/>
              <a:t>Jméno, barva, typ čáry, viditelnost, zmrazení, zamknutí</a:t>
            </a:r>
          </a:p>
          <a:p>
            <a:pPr lvl="1">
              <a:buFont typeface="Arial" panose="020B0604020202020204" pitchFamily="34" charset="0"/>
              <a:buChar char="•"/>
            </a:pPr>
            <a:r>
              <a:rPr lang="cs-CZ" dirty="0"/>
              <a:t>Pracovní (</a:t>
            </a:r>
            <a:r>
              <a:rPr lang="cs-CZ" dirty="0" err="1"/>
              <a:t>current</a:t>
            </a:r>
            <a:r>
              <a:rPr lang="cs-CZ" dirty="0"/>
              <a:t>) – právě jedna hladina – nové entity</a:t>
            </a:r>
          </a:p>
          <a:p>
            <a:pPr lvl="2">
              <a:buFont typeface="Arial" panose="020B0604020202020204" pitchFamily="34" charset="0"/>
              <a:buChar char="•"/>
            </a:pPr>
            <a:r>
              <a:rPr lang="cs-CZ" dirty="0"/>
              <a:t>Editovat lze i entity v jiných hladinách</a:t>
            </a:r>
          </a:p>
          <a:p>
            <a:pPr lvl="1">
              <a:buFont typeface="Arial" panose="020B0604020202020204" pitchFamily="34" charset="0"/>
              <a:buChar char="•"/>
            </a:pPr>
            <a:r>
              <a:rPr lang="cs-CZ" dirty="0"/>
              <a:t>Nový výkres – hladina „0“</a:t>
            </a:r>
          </a:p>
          <a:p>
            <a:pPr lvl="2">
              <a:buFont typeface="Arial" panose="020B0604020202020204" pitchFamily="34" charset="0"/>
              <a:buChar char="•"/>
            </a:pPr>
            <a:r>
              <a:rPr lang="cs-CZ" dirty="0"/>
              <a:t>Nemůže být přejmenována, zrušena</a:t>
            </a:r>
          </a:p>
          <a:p>
            <a:pPr lvl="2">
              <a:buFont typeface="Arial" panose="020B0604020202020204" pitchFamily="34" charset="0"/>
              <a:buChar char="•"/>
            </a:pPr>
            <a:r>
              <a:rPr lang="cs-CZ" dirty="0"/>
              <a:t>Další hladiny – uživatel</a:t>
            </a:r>
          </a:p>
          <a:p>
            <a:pPr lvl="1">
              <a:buFont typeface="Arial" panose="020B0604020202020204" pitchFamily="34" charset="0"/>
              <a:buChar char="•"/>
            </a:pPr>
            <a:r>
              <a:rPr lang="cs-CZ" dirty="0"/>
              <a:t>Počet hladin ani entit na hladinu není omezen</a:t>
            </a:r>
          </a:p>
          <a:p>
            <a:pPr lvl="1">
              <a:buFont typeface="Arial" panose="020B0604020202020204" pitchFamily="34" charset="0"/>
              <a:buChar char="•"/>
            </a:pPr>
            <a:endParaRPr lang="cs-CZ" dirty="0"/>
          </a:p>
        </p:txBody>
      </p:sp>
      <p:pic>
        <p:nvPicPr>
          <p:cNvPr id="5" name="Obrázek 4">
            <a:extLst>
              <a:ext uri="{FF2B5EF4-FFF2-40B4-BE49-F238E27FC236}">
                <a16:creationId xmlns:a16="http://schemas.microsoft.com/office/drawing/2014/main" id="{360C09C0-2247-454E-BE3D-81AFC8A2AEE4}"/>
              </a:ext>
            </a:extLst>
          </p:cNvPr>
          <p:cNvPicPr>
            <a:picLocks noChangeAspect="1"/>
          </p:cNvPicPr>
          <p:nvPr/>
        </p:nvPicPr>
        <p:blipFill>
          <a:blip r:embed="rId2"/>
          <a:stretch>
            <a:fillRect/>
          </a:stretch>
        </p:blipFill>
        <p:spPr>
          <a:xfrm>
            <a:off x="6388442" y="2084832"/>
            <a:ext cx="5388077" cy="2880852"/>
          </a:xfrm>
          <a:prstGeom prst="rect">
            <a:avLst/>
          </a:prstGeom>
        </p:spPr>
      </p:pic>
      <p:pic>
        <p:nvPicPr>
          <p:cNvPr id="7" name="Obrázek 6">
            <a:extLst>
              <a:ext uri="{FF2B5EF4-FFF2-40B4-BE49-F238E27FC236}">
                <a16:creationId xmlns:a16="http://schemas.microsoft.com/office/drawing/2014/main" id="{891AB5C7-F34E-4FCD-B66B-1D25D9E0EC8C}"/>
              </a:ext>
            </a:extLst>
          </p:cNvPr>
          <p:cNvPicPr>
            <a:picLocks noChangeAspect="1"/>
          </p:cNvPicPr>
          <p:nvPr/>
        </p:nvPicPr>
        <p:blipFill>
          <a:blip r:embed="rId3"/>
          <a:stretch>
            <a:fillRect/>
          </a:stretch>
        </p:blipFill>
        <p:spPr>
          <a:xfrm>
            <a:off x="7506099" y="4965684"/>
            <a:ext cx="3152762" cy="1776557"/>
          </a:xfrm>
          <a:prstGeom prst="rect">
            <a:avLst/>
          </a:prstGeom>
        </p:spPr>
      </p:pic>
    </p:spTree>
    <p:extLst>
      <p:ext uri="{BB962C8B-B14F-4D97-AF65-F5344CB8AC3E}">
        <p14:creationId xmlns:p14="http://schemas.microsoft.com/office/powerpoint/2010/main" val="194172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2323BB6-B9B6-4D81-A397-FA8E466989E0}"/>
              </a:ext>
            </a:extLst>
          </p:cNvPr>
          <p:cNvSpPr>
            <a:spLocks noGrp="1"/>
          </p:cNvSpPr>
          <p:nvPr>
            <p:ph type="title"/>
          </p:nvPr>
        </p:nvSpPr>
        <p:spPr/>
        <p:txBody>
          <a:bodyPr/>
          <a:lstStyle/>
          <a:p>
            <a:r>
              <a:rPr lang="cs-CZ" dirty="0"/>
              <a:t>Souřadnicový systém</a:t>
            </a:r>
          </a:p>
        </p:txBody>
      </p:sp>
      <p:sp>
        <p:nvSpPr>
          <p:cNvPr id="3" name="Zástupný obsah 2">
            <a:extLst>
              <a:ext uri="{FF2B5EF4-FFF2-40B4-BE49-F238E27FC236}">
                <a16:creationId xmlns:a16="http://schemas.microsoft.com/office/drawing/2014/main" id="{AEF13A67-CB6D-4FC0-A98A-013B37FCC2BA}"/>
              </a:ext>
            </a:extLst>
          </p:cNvPr>
          <p:cNvSpPr>
            <a:spLocks noGrp="1"/>
          </p:cNvSpPr>
          <p:nvPr>
            <p:ph idx="1"/>
          </p:nvPr>
        </p:nvSpPr>
        <p:spPr/>
        <p:txBody>
          <a:bodyPr/>
          <a:lstStyle/>
          <a:p>
            <a:pPr>
              <a:buFont typeface="Arial" panose="020B0604020202020204" pitchFamily="34" charset="0"/>
              <a:buChar char="•"/>
            </a:pPr>
            <a:r>
              <a:rPr lang="cs-CZ" dirty="0"/>
              <a:t>Bod lze zadat pomocí</a:t>
            </a:r>
          </a:p>
          <a:p>
            <a:pPr lvl="1">
              <a:buFont typeface="Arial" panose="020B0604020202020204" pitchFamily="34" charset="0"/>
              <a:buChar char="•"/>
            </a:pPr>
            <a:r>
              <a:rPr lang="cs-CZ" dirty="0"/>
              <a:t>Graf. vstupu (myš)</a:t>
            </a:r>
          </a:p>
          <a:p>
            <a:pPr lvl="1">
              <a:buFont typeface="Arial" panose="020B0604020202020204" pitchFamily="34" charset="0"/>
              <a:buChar char="•"/>
            </a:pPr>
            <a:r>
              <a:rPr lang="cs-CZ" dirty="0"/>
              <a:t>Zadáním souřadnic</a:t>
            </a:r>
          </a:p>
          <a:p>
            <a:pPr lvl="1">
              <a:buFont typeface="Arial" panose="020B0604020202020204" pitchFamily="34" charset="0"/>
              <a:buChar char="•"/>
            </a:pPr>
            <a:r>
              <a:rPr lang="cs-CZ" dirty="0"/>
              <a:t>Uchopovací režim</a:t>
            </a:r>
          </a:p>
          <a:p>
            <a:pPr lvl="1">
              <a:buFont typeface="Arial" panose="020B0604020202020204" pitchFamily="34" charset="0"/>
              <a:buChar char="•"/>
            </a:pPr>
            <a:r>
              <a:rPr lang="cs-CZ" dirty="0"/>
              <a:t>Filtr / trasování</a:t>
            </a:r>
          </a:p>
          <a:p>
            <a:pPr lvl="1">
              <a:buFont typeface="Arial" panose="020B0604020202020204" pitchFamily="34" charset="0"/>
              <a:buChar char="•"/>
            </a:pPr>
            <a:r>
              <a:rPr lang="cs-CZ" dirty="0" err="1"/>
              <a:t>Snap</a:t>
            </a:r>
            <a:r>
              <a:rPr lang="cs-CZ" dirty="0"/>
              <a:t> / </a:t>
            </a:r>
            <a:r>
              <a:rPr lang="cs-CZ" dirty="0" err="1"/>
              <a:t>Ortho</a:t>
            </a:r>
            <a:endParaRPr lang="cs-CZ" dirty="0"/>
          </a:p>
          <a:p>
            <a:pPr>
              <a:buFont typeface="Arial" panose="020B0604020202020204" pitchFamily="34" charset="0"/>
              <a:buChar char="•"/>
            </a:pPr>
            <a:r>
              <a:rPr lang="cs-CZ" dirty="0"/>
              <a:t>Lze použít i polární SS</a:t>
            </a:r>
          </a:p>
          <a:p>
            <a:pPr lvl="1">
              <a:buFont typeface="Arial" panose="020B0604020202020204" pitchFamily="34" charset="0"/>
              <a:buChar char="•"/>
            </a:pPr>
            <a:r>
              <a:rPr lang="cs-CZ" dirty="0"/>
              <a:t>Příznak polárních souřadnic je „&lt;„ (např. 2&lt;10 – vzdálenost 2, úhel 10°)</a:t>
            </a:r>
          </a:p>
          <a:p>
            <a:pPr>
              <a:buFont typeface="Arial" panose="020B0604020202020204" pitchFamily="34" charset="0"/>
              <a:buChar char="•"/>
            </a:pPr>
            <a:r>
              <a:rPr lang="cs-CZ" dirty="0"/>
              <a:t>Relativní souřadnice (@)</a:t>
            </a:r>
          </a:p>
          <a:p>
            <a:pPr lvl="1">
              <a:buFont typeface="Arial" panose="020B0604020202020204" pitchFamily="34" charset="0"/>
              <a:buChar char="•"/>
            </a:pPr>
            <a:r>
              <a:rPr lang="cs-CZ" dirty="0"/>
              <a:t>K poslednímu bodu (@ </a:t>
            </a:r>
            <a:r>
              <a:rPr lang="cs-CZ" dirty="0" err="1"/>
              <a:t>dx</a:t>
            </a:r>
            <a:r>
              <a:rPr lang="cs-CZ" dirty="0"/>
              <a:t>, </a:t>
            </a:r>
            <a:r>
              <a:rPr lang="cs-CZ" dirty="0" err="1"/>
              <a:t>dy</a:t>
            </a:r>
            <a:r>
              <a:rPr lang="cs-CZ" dirty="0"/>
              <a:t>)</a:t>
            </a:r>
          </a:p>
          <a:p>
            <a:pPr lvl="1">
              <a:buFont typeface="Arial" panose="020B0604020202020204" pitchFamily="34" charset="0"/>
              <a:buChar char="•"/>
            </a:pPr>
            <a:r>
              <a:rPr lang="cs-CZ" dirty="0"/>
              <a:t>Polár (@dx &lt; da)</a:t>
            </a:r>
          </a:p>
        </p:txBody>
      </p:sp>
    </p:spTree>
    <p:extLst>
      <p:ext uri="{BB962C8B-B14F-4D97-AF65-F5344CB8AC3E}">
        <p14:creationId xmlns:p14="http://schemas.microsoft.com/office/powerpoint/2010/main" val="2621210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B812F1-48F2-44EF-B118-FFDDF1151710}"/>
              </a:ext>
            </a:extLst>
          </p:cNvPr>
          <p:cNvSpPr>
            <a:spLocks noGrp="1"/>
          </p:cNvSpPr>
          <p:nvPr>
            <p:ph type="title"/>
          </p:nvPr>
        </p:nvSpPr>
        <p:spPr/>
        <p:txBody>
          <a:bodyPr/>
          <a:lstStyle/>
          <a:p>
            <a:r>
              <a:rPr lang="cs-CZ" dirty="0"/>
              <a:t>Kreslicí pomůcky</a:t>
            </a:r>
          </a:p>
        </p:txBody>
      </p:sp>
      <p:sp>
        <p:nvSpPr>
          <p:cNvPr id="3" name="Zástupný obsah 2">
            <a:extLst>
              <a:ext uri="{FF2B5EF4-FFF2-40B4-BE49-F238E27FC236}">
                <a16:creationId xmlns:a16="http://schemas.microsoft.com/office/drawing/2014/main" id="{9EE59D18-5D39-4390-A20A-DB9154FB87A7}"/>
              </a:ext>
            </a:extLst>
          </p:cNvPr>
          <p:cNvSpPr>
            <a:spLocks noGrp="1"/>
          </p:cNvSpPr>
          <p:nvPr>
            <p:ph idx="1"/>
          </p:nvPr>
        </p:nvSpPr>
        <p:spPr/>
        <p:txBody>
          <a:bodyPr/>
          <a:lstStyle/>
          <a:p>
            <a:pPr>
              <a:buFont typeface="Arial" panose="020B0604020202020204" pitchFamily="34" charset="0"/>
              <a:buChar char="•"/>
            </a:pPr>
            <a:r>
              <a:rPr lang="cs-CZ" dirty="0"/>
              <a:t>OSNAP (</a:t>
            </a:r>
            <a:r>
              <a:rPr lang="cs-CZ" dirty="0" err="1"/>
              <a:t>Object</a:t>
            </a:r>
            <a:r>
              <a:rPr lang="cs-CZ" dirty="0"/>
              <a:t> </a:t>
            </a:r>
            <a:r>
              <a:rPr lang="cs-CZ" dirty="0" err="1"/>
              <a:t>Snap</a:t>
            </a:r>
            <a:r>
              <a:rPr lang="cs-CZ" dirty="0"/>
              <a:t> - Uchop)</a:t>
            </a:r>
          </a:p>
          <a:p>
            <a:pPr>
              <a:buFont typeface="Arial" panose="020B0604020202020204" pitchFamily="34" charset="0"/>
              <a:buChar char="•"/>
            </a:pPr>
            <a:r>
              <a:rPr lang="cs-CZ" dirty="0"/>
              <a:t>SNAP – záměrný kříž – jen po určitých bodech</a:t>
            </a:r>
          </a:p>
          <a:p>
            <a:pPr>
              <a:buFont typeface="Arial" panose="020B0604020202020204" pitchFamily="34" charset="0"/>
              <a:buChar char="•"/>
            </a:pPr>
            <a:r>
              <a:rPr lang="cs-CZ" dirty="0"/>
              <a:t>GRID – pomocné body – pravoúhlá síť</a:t>
            </a:r>
          </a:p>
          <a:p>
            <a:pPr>
              <a:buFont typeface="Arial" panose="020B0604020202020204" pitchFamily="34" charset="0"/>
              <a:buChar char="•"/>
            </a:pPr>
            <a:r>
              <a:rPr lang="cs-CZ" dirty="0"/>
              <a:t>ORTHO – Možnost zadat body jen ve směru os (x, y)</a:t>
            </a:r>
          </a:p>
          <a:p>
            <a:pPr>
              <a:buFont typeface="Arial" panose="020B0604020202020204" pitchFamily="34" charset="0"/>
              <a:buChar char="•"/>
            </a:pPr>
            <a:r>
              <a:rPr lang="cs-CZ" dirty="0"/>
              <a:t>Filtry, trasování (odečtení jedné souřadnice atd) – .x, .y, .</a:t>
            </a:r>
            <a:r>
              <a:rPr lang="cs-CZ" dirty="0" err="1"/>
              <a:t>xy</a:t>
            </a:r>
            <a:r>
              <a:rPr lang="cs-CZ" dirty="0"/>
              <a:t>, .</a:t>
            </a:r>
            <a:r>
              <a:rPr lang="cs-CZ" dirty="0" err="1"/>
              <a:t>xz</a:t>
            </a:r>
            <a:r>
              <a:rPr lang="cs-CZ" dirty="0"/>
              <a:t> atd</a:t>
            </a:r>
          </a:p>
          <a:p>
            <a:pPr>
              <a:buFont typeface="Arial" panose="020B0604020202020204" pitchFamily="34" charset="0"/>
              <a:buChar char="•"/>
            </a:pPr>
            <a:r>
              <a:rPr lang="cs-CZ" dirty="0"/>
              <a:t>Bloky – seskupení entit dohromady do objektu (bloku)</a:t>
            </a:r>
          </a:p>
          <a:p>
            <a:pPr>
              <a:buFont typeface="Arial" panose="020B0604020202020204" pitchFamily="34" charset="0"/>
              <a:buChar char="•"/>
            </a:pPr>
            <a:r>
              <a:rPr lang="cs-CZ" dirty="0"/>
              <a:t>Editační příkazy – zrušení, kopírování, přesouvání, násobné kopírování, zrcadlení atd</a:t>
            </a:r>
          </a:p>
          <a:p>
            <a:pPr>
              <a:buFont typeface="Arial" panose="020B0604020202020204" pitchFamily="34" charset="0"/>
              <a:buChar char="•"/>
            </a:pPr>
            <a:r>
              <a:rPr lang="cs-CZ" dirty="0" err="1"/>
              <a:t>AutoEdit</a:t>
            </a:r>
            <a:r>
              <a:rPr lang="cs-CZ" dirty="0"/>
              <a:t> – některé úpravy automaticky (např s pomocí uzlů)</a:t>
            </a:r>
          </a:p>
          <a:p>
            <a:pPr>
              <a:buFont typeface="Arial" panose="020B0604020202020204" pitchFamily="34" charset="0"/>
              <a:buChar char="•"/>
            </a:pPr>
            <a:endParaRPr lang="cs-CZ" dirty="0"/>
          </a:p>
        </p:txBody>
      </p:sp>
      <p:pic>
        <p:nvPicPr>
          <p:cNvPr id="5" name="Obrázek 4">
            <a:extLst>
              <a:ext uri="{FF2B5EF4-FFF2-40B4-BE49-F238E27FC236}">
                <a16:creationId xmlns:a16="http://schemas.microsoft.com/office/drawing/2014/main" id="{FD0A1E53-A253-4EC8-A17D-E5D39594D39D}"/>
              </a:ext>
            </a:extLst>
          </p:cNvPr>
          <p:cNvPicPr>
            <a:picLocks noChangeAspect="1"/>
          </p:cNvPicPr>
          <p:nvPr/>
        </p:nvPicPr>
        <p:blipFill>
          <a:blip r:embed="rId2"/>
          <a:stretch>
            <a:fillRect/>
          </a:stretch>
        </p:blipFill>
        <p:spPr>
          <a:xfrm>
            <a:off x="7469629" y="1980832"/>
            <a:ext cx="4286865" cy="501445"/>
          </a:xfrm>
          <a:prstGeom prst="rect">
            <a:avLst/>
          </a:prstGeom>
        </p:spPr>
      </p:pic>
      <p:pic>
        <p:nvPicPr>
          <p:cNvPr id="7" name="Obrázek 6">
            <a:extLst>
              <a:ext uri="{FF2B5EF4-FFF2-40B4-BE49-F238E27FC236}">
                <a16:creationId xmlns:a16="http://schemas.microsoft.com/office/drawing/2014/main" id="{6C969536-D2F1-4972-BC4B-7B6623B97C8F}"/>
              </a:ext>
            </a:extLst>
          </p:cNvPr>
          <p:cNvPicPr>
            <a:picLocks noChangeAspect="1"/>
          </p:cNvPicPr>
          <p:nvPr/>
        </p:nvPicPr>
        <p:blipFill>
          <a:blip r:embed="rId3"/>
          <a:stretch>
            <a:fillRect/>
          </a:stretch>
        </p:blipFill>
        <p:spPr>
          <a:xfrm>
            <a:off x="7469629" y="2536722"/>
            <a:ext cx="3972232" cy="501445"/>
          </a:xfrm>
          <a:prstGeom prst="rect">
            <a:avLst/>
          </a:prstGeom>
        </p:spPr>
      </p:pic>
      <p:pic>
        <p:nvPicPr>
          <p:cNvPr id="9" name="Obrázek 8">
            <a:extLst>
              <a:ext uri="{FF2B5EF4-FFF2-40B4-BE49-F238E27FC236}">
                <a16:creationId xmlns:a16="http://schemas.microsoft.com/office/drawing/2014/main" id="{849D9C9E-C1F2-466A-8890-09CC2DEFDC30}"/>
              </a:ext>
            </a:extLst>
          </p:cNvPr>
          <p:cNvPicPr>
            <a:picLocks noChangeAspect="1"/>
          </p:cNvPicPr>
          <p:nvPr/>
        </p:nvPicPr>
        <p:blipFill>
          <a:blip r:embed="rId4"/>
          <a:stretch>
            <a:fillRect/>
          </a:stretch>
        </p:blipFill>
        <p:spPr>
          <a:xfrm>
            <a:off x="7469629" y="3092612"/>
            <a:ext cx="4011561" cy="501445"/>
          </a:xfrm>
          <a:prstGeom prst="rect">
            <a:avLst/>
          </a:prstGeom>
        </p:spPr>
      </p:pic>
      <p:pic>
        <p:nvPicPr>
          <p:cNvPr id="11" name="Obrázek 10">
            <a:extLst>
              <a:ext uri="{FF2B5EF4-FFF2-40B4-BE49-F238E27FC236}">
                <a16:creationId xmlns:a16="http://schemas.microsoft.com/office/drawing/2014/main" id="{7739A8E2-9DD7-44A4-B6BC-70BD72B3F717}"/>
              </a:ext>
            </a:extLst>
          </p:cNvPr>
          <p:cNvPicPr>
            <a:picLocks noChangeAspect="1"/>
          </p:cNvPicPr>
          <p:nvPr/>
        </p:nvPicPr>
        <p:blipFill>
          <a:blip r:embed="rId5"/>
          <a:stretch>
            <a:fillRect/>
          </a:stretch>
        </p:blipFill>
        <p:spPr>
          <a:xfrm>
            <a:off x="7469629" y="3653018"/>
            <a:ext cx="2674374" cy="501445"/>
          </a:xfrm>
          <a:prstGeom prst="rect">
            <a:avLst/>
          </a:prstGeom>
        </p:spPr>
      </p:pic>
    </p:spTree>
    <p:extLst>
      <p:ext uri="{BB962C8B-B14F-4D97-AF65-F5344CB8AC3E}">
        <p14:creationId xmlns:p14="http://schemas.microsoft.com/office/powerpoint/2010/main" val="4271855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021B3D3-51F1-4B00-9F6D-585DA4E1EF90}"/>
              </a:ext>
            </a:extLst>
          </p:cNvPr>
          <p:cNvSpPr>
            <a:spLocks noGrp="1"/>
          </p:cNvSpPr>
          <p:nvPr>
            <p:ph type="title"/>
          </p:nvPr>
        </p:nvSpPr>
        <p:spPr/>
        <p:txBody>
          <a:bodyPr/>
          <a:lstStyle/>
          <a:p>
            <a:r>
              <a:rPr lang="cs-CZ" dirty="0"/>
              <a:t>Kreslicí pomůcky</a:t>
            </a:r>
          </a:p>
        </p:txBody>
      </p:sp>
      <p:sp>
        <p:nvSpPr>
          <p:cNvPr id="3" name="Zástupný obsah 2">
            <a:extLst>
              <a:ext uri="{FF2B5EF4-FFF2-40B4-BE49-F238E27FC236}">
                <a16:creationId xmlns:a16="http://schemas.microsoft.com/office/drawing/2014/main" id="{569458F6-A0A7-49F8-AF9D-05FA40B50A05}"/>
              </a:ext>
            </a:extLst>
          </p:cNvPr>
          <p:cNvSpPr>
            <a:spLocks noGrp="1"/>
          </p:cNvSpPr>
          <p:nvPr>
            <p:ph idx="1"/>
          </p:nvPr>
        </p:nvSpPr>
        <p:spPr/>
        <p:txBody>
          <a:bodyPr/>
          <a:lstStyle/>
          <a:p>
            <a:pPr>
              <a:buFont typeface="Arial" panose="020B0604020202020204" pitchFamily="34" charset="0"/>
              <a:buChar char="•"/>
            </a:pPr>
            <a:r>
              <a:rPr lang="cs-CZ" dirty="0"/>
              <a:t>Kóta – jeden blok:</a:t>
            </a:r>
          </a:p>
          <a:p>
            <a:pPr lvl="1">
              <a:buFont typeface="Arial" panose="020B0604020202020204" pitchFamily="34" charset="0"/>
              <a:buChar char="•"/>
            </a:pPr>
            <a:r>
              <a:rPr lang="cs-CZ" dirty="0"/>
              <a:t>Kótovací čáry – změřená délka</a:t>
            </a:r>
          </a:p>
          <a:p>
            <a:pPr lvl="1">
              <a:buFont typeface="Arial" panose="020B0604020202020204" pitchFamily="34" charset="0"/>
              <a:buChar char="•"/>
            </a:pPr>
            <a:r>
              <a:rPr lang="cs-CZ" dirty="0"/>
              <a:t>Vynášecí čáry – od bodů, kterými jsme zadali měřený rozměr</a:t>
            </a:r>
          </a:p>
          <a:p>
            <a:pPr lvl="1">
              <a:buFont typeface="Arial" panose="020B0604020202020204" pitchFamily="34" charset="0"/>
              <a:buChar char="•"/>
            </a:pPr>
            <a:r>
              <a:rPr lang="cs-CZ" dirty="0"/>
              <a:t>Kótovací značky – ukončují kótovací čáru (šipky atd)</a:t>
            </a:r>
          </a:p>
          <a:p>
            <a:pPr lvl="1">
              <a:buFont typeface="Arial" panose="020B0604020202020204" pitchFamily="34" charset="0"/>
              <a:buChar char="•"/>
            </a:pPr>
            <a:r>
              <a:rPr lang="cs-CZ" dirty="0"/>
              <a:t>Kótovací text – změřený rozměr</a:t>
            </a:r>
          </a:p>
          <a:p>
            <a:pPr>
              <a:buFont typeface="Arial" panose="020B0604020202020204" pitchFamily="34" charset="0"/>
              <a:buChar char="•"/>
            </a:pPr>
            <a:r>
              <a:rPr lang="cs-CZ" dirty="0"/>
              <a:t>Asociativita kót – samy se přepočítávají</a:t>
            </a:r>
          </a:p>
          <a:p>
            <a:pPr>
              <a:buFont typeface="Arial" panose="020B0604020202020204" pitchFamily="34" charset="0"/>
              <a:buChar char="•"/>
            </a:pPr>
            <a:r>
              <a:rPr lang="cs-CZ" dirty="0"/>
              <a:t>Šrafování – uzavřené oblasti se vyplní vzorem (zvolený vzor atd)</a:t>
            </a:r>
          </a:p>
          <a:p>
            <a:pPr>
              <a:buFont typeface="Arial" panose="020B0604020202020204" pitchFamily="34" charset="0"/>
              <a:buChar char="•"/>
            </a:pPr>
            <a:r>
              <a:rPr lang="cs-CZ" dirty="0"/>
              <a:t>Vykreslování – PLOT (plotr), TISK (tiskárna) – musí se zmrazit / rozmrazit hladiny, přiřadit barvy atd</a:t>
            </a:r>
          </a:p>
        </p:txBody>
      </p:sp>
    </p:spTree>
    <p:extLst>
      <p:ext uri="{BB962C8B-B14F-4D97-AF65-F5344CB8AC3E}">
        <p14:creationId xmlns:p14="http://schemas.microsoft.com/office/powerpoint/2010/main" val="3852560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1A35067-B1BC-4BA5-B17D-2801A318EB4A}"/>
              </a:ext>
            </a:extLst>
          </p:cNvPr>
          <p:cNvSpPr>
            <a:spLocks noGrp="1"/>
          </p:cNvSpPr>
          <p:nvPr>
            <p:ph type="title"/>
          </p:nvPr>
        </p:nvSpPr>
        <p:spPr/>
        <p:txBody>
          <a:bodyPr/>
          <a:lstStyle/>
          <a:p>
            <a:r>
              <a:rPr lang="cs-CZ" dirty="0"/>
              <a:t>Počítačová animace</a:t>
            </a:r>
          </a:p>
        </p:txBody>
      </p:sp>
      <p:sp>
        <p:nvSpPr>
          <p:cNvPr id="3" name="Zástupný obsah 2">
            <a:extLst>
              <a:ext uri="{FF2B5EF4-FFF2-40B4-BE49-F238E27FC236}">
                <a16:creationId xmlns:a16="http://schemas.microsoft.com/office/drawing/2014/main" id="{2ABCDFF2-726E-46E8-8AC3-595F4EA63633}"/>
              </a:ext>
            </a:extLst>
          </p:cNvPr>
          <p:cNvSpPr>
            <a:spLocks noGrp="1"/>
          </p:cNvSpPr>
          <p:nvPr>
            <p:ph idx="1"/>
          </p:nvPr>
        </p:nvSpPr>
        <p:spPr/>
        <p:txBody>
          <a:bodyPr/>
          <a:lstStyle/>
          <a:p>
            <a:pPr>
              <a:buFont typeface="Arial" panose="020B0604020202020204" pitchFamily="34" charset="0"/>
              <a:buChar char="•"/>
            </a:pPr>
            <a:r>
              <a:rPr lang="cs-CZ" dirty="0"/>
              <a:t>Vektorová 2D animace</a:t>
            </a:r>
          </a:p>
          <a:p>
            <a:pPr lvl="1">
              <a:buFont typeface="Arial" panose="020B0604020202020204" pitchFamily="34" charset="0"/>
              <a:buChar char="•"/>
            </a:pPr>
            <a:r>
              <a:rPr lang="cs-CZ" dirty="0"/>
              <a:t>Vektor – Ideální pro tvorbu animace</a:t>
            </a:r>
          </a:p>
          <a:p>
            <a:pPr lvl="1">
              <a:buFont typeface="Arial" panose="020B0604020202020204" pitchFamily="34" charset="0"/>
              <a:buChar char="•"/>
            </a:pPr>
            <a:r>
              <a:rPr lang="cs-CZ" dirty="0"/>
              <a:t>Základní techniky generace animace</a:t>
            </a:r>
          </a:p>
          <a:p>
            <a:pPr lvl="2">
              <a:buFont typeface="Arial" panose="020B0604020202020204" pitchFamily="34" charset="0"/>
              <a:buChar char="•"/>
            </a:pPr>
            <a:r>
              <a:rPr lang="cs-CZ" dirty="0" err="1"/>
              <a:t>Frame</a:t>
            </a:r>
            <a:r>
              <a:rPr lang="cs-CZ" dirty="0"/>
              <a:t> by </a:t>
            </a:r>
            <a:r>
              <a:rPr lang="cs-CZ" dirty="0" err="1"/>
              <a:t>Frame</a:t>
            </a:r>
            <a:r>
              <a:rPr lang="cs-CZ" dirty="0"/>
              <a:t> – Z jednotlivých </a:t>
            </a:r>
            <a:r>
              <a:rPr lang="cs-CZ" dirty="0" err="1"/>
              <a:t>framů</a:t>
            </a:r>
            <a:r>
              <a:rPr lang="cs-CZ" dirty="0"/>
              <a:t> (nezávislých) – zkopírování předchozího – možnost přidávat samostatné </a:t>
            </a:r>
            <a:r>
              <a:rPr lang="cs-CZ" dirty="0" err="1"/>
              <a:t>framy</a:t>
            </a:r>
            <a:r>
              <a:rPr lang="cs-CZ" dirty="0"/>
              <a:t> atd</a:t>
            </a:r>
          </a:p>
          <a:p>
            <a:pPr lvl="2">
              <a:buFont typeface="Arial" panose="020B0604020202020204" pitchFamily="34" charset="0"/>
              <a:buChar char="•"/>
            </a:pPr>
            <a:r>
              <a:rPr lang="cs-CZ" dirty="0" err="1"/>
              <a:t>Motion</a:t>
            </a:r>
            <a:r>
              <a:rPr lang="cs-CZ" dirty="0"/>
              <a:t> </a:t>
            </a:r>
            <a:r>
              <a:rPr lang="cs-CZ" dirty="0" err="1"/>
              <a:t>Tween</a:t>
            </a:r>
            <a:r>
              <a:rPr lang="cs-CZ" dirty="0"/>
              <a:t> – První a poslední </a:t>
            </a:r>
            <a:r>
              <a:rPr lang="cs-CZ" dirty="0" err="1"/>
              <a:t>keyframe</a:t>
            </a:r>
            <a:r>
              <a:rPr lang="cs-CZ" dirty="0"/>
              <a:t> – zbytek vygeneruje program</a:t>
            </a:r>
          </a:p>
          <a:p>
            <a:pPr lvl="1">
              <a:buFont typeface="Arial" panose="020B0604020202020204" pitchFamily="34" charset="0"/>
              <a:buChar char="•"/>
            </a:pPr>
            <a:r>
              <a:rPr lang="cs-CZ" dirty="0" err="1"/>
              <a:t>Macromedia</a:t>
            </a:r>
            <a:r>
              <a:rPr lang="cs-CZ" dirty="0"/>
              <a:t> </a:t>
            </a:r>
            <a:r>
              <a:rPr lang="cs-CZ" dirty="0" err="1"/>
              <a:t>Flash</a:t>
            </a:r>
            <a:r>
              <a:rPr lang="cs-CZ" dirty="0"/>
              <a:t>, XARA</a:t>
            </a:r>
          </a:p>
          <a:p>
            <a:pPr>
              <a:buFont typeface="Arial" panose="020B0604020202020204" pitchFamily="34" charset="0"/>
              <a:buChar char="•"/>
            </a:pPr>
            <a:r>
              <a:rPr lang="cs-CZ" dirty="0"/>
              <a:t>Vektorová 3D aminace</a:t>
            </a:r>
          </a:p>
          <a:p>
            <a:pPr lvl="1">
              <a:buFont typeface="Arial" panose="020B0604020202020204" pitchFamily="34" charset="0"/>
              <a:buChar char="•"/>
            </a:pPr>
            <a:r>
              <a:rPr lang="cs-CZ" dirty="0"/>
              <a:t>Vizualizační algoritmy (odlesky, stíny, materiály) – věrohodné scény (náročné na HW)</a:t>
            </a:r>
          </a:p>
          <a:p>
            <a:pPr lvl="1">
              <a:buFont typeface="Arial" panose="020B0604020202020204" pitchFamily="34" charset="0"/>
              <a:buChar char="•"/>
            </a:pPr>
            <a:r>
              <a:rPr lang="cs-CZ" dirty="0"/>
              <a:t>Postupy na základě </a:t>
            </a:r>
            <a:r>
              <a:rPr lang="cs-CZ" dirty="0" err="1"/>
              <a:t>Motion</a:t>
            </a:r>
            <a:r>
              <a:rPr lang="cs-CZ" dirty="0"/>
              <a:t> </a:t>
            </a:r>
            <a:r>
              <a:rPr lang="cs-CZ" dirty="0" err="1"/>
              <a:t>Tween</a:t>
            </a:r>
            <a:r>
              <a:rPr lang="cs-CZ" dirty="0"/>
              <a:t> (klíče + nastavení chování mezi nimi)</a:t>
            </a:r>
          </a:p>
          <a:p>
            <a:pPr lvl="1">
              <a:buFont typeface="Arial" panose="020B0604020202020204" pitchFamily="34" charset="0"/>
              <a:buChar char="•"/>
            </a:pPr>
            <a:r>
              <a:rPr lang="cs-CZ" dirty="0"/>
              <a:t>Animace PC her, filmů (Avatar například), které jsou jinak nerealizovatelné (nebo jen obtížně)</a:t>
            </a:r>
          </a:p>
          <a:p>
            <a:pPr lvl="1">
              <a:buFont typeface="Arial" panose="020B0604020202020204" pitchFamily="34" charset="0"/>
              <a:buChar char="•"/>
            </a:pPr>
            <a:r>
              <a:rPr lang="cs-CZ" dirty="0"/>
              <a:t>Aplikace bývají modulární – rozšíření o pluginy (např. generátory vlasů, ohně, tekutiny atd)</a:t>
            </a:r>
          </a:p>
          <a:p>
            <a:pPr lvl="1">
              <a:buFont typeface="Arial" panose="020B0604020202020204" pitchFamily="34" charset="0"/>
              <a:buChar char="•"/>
            </a:pPr>
            <a:r>
              <a:rPr lang="cs-CZ" dirty="0"/>
              <a:t>MAYA, 3D Studio MAX, SOFTIMAGE, Autodesk VIZ</a:t>
            </a:r>
          </a:p>
        </p:txBody>
      </p:sp>
      <p:pic>
        <p:nvPicPr>
          <p:cNvPr id="5" name="Obrázek 4">
            <a:extLst>
              <a:ext uri="{FF2B5EF4-FFF2-40B4-BE49-F238E27FC236}">
                <a16:creationId xmlns:a16="http://schemas.microsoft.com/office/drawing/2014/main" id="{41FFD03E-74F1-4F39-81E0-5226831DE866}"/>
              </a:ext>
            </a:extLst>
          </p:cNvPr>
          <p:cNvPicPr>
            <a:picLocks noChangeAspect="1"/>
          </p:cNvPicPr>
          <p:nvPr/>
        </p:nvPicPr>
        <p:blipFill>
          <a:blip r:embed="rId2"/>
          <a:stretch>
            <a:fillRect/>
          </a:stretch>
        </p:blipFill>
        <p:spPr>
          <a:xfrm>
            <a:off x="6096000" y="1086858"/>
            <a:ext cx="2949677" cy="1995948"/>
          </a:xfrm>
          <a:prstGeom prst="rect">
            <a:avLst/>
          </a:prstGeom>
        </p:spPr>
      </p:pic>
    </p:spTree>
    <p:extLst>
      <p:ext uri="{BB962C8B-B14F-4D97-AF65-F5344CB8AC3E}">
        <p14:creationId xmlns:p14="http://schemas.microsoft.com/office/powerpoint/2010/main" val="3083776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C135E4E-4575-4684-8C49-3986A446E871}"/>
              </a:ext>
            </a:extLst>
          </p:cNvPr>
          <p:cNvSpPr>
            <a:spLocks noGrp="1"/>
          </p:cNvSpPr>
          <p:nvPr>
            <p:ph type="title"/>
          </p:nvPr>
        </p:nvSpPr>
        <p:spPr/>
        <p:txBody>
          <a:bodyPr/>
          <a:lstStyle/>
          <a:p>
            <a:r>
              <a:rPr lang="cs-CZ" dirty="0"/>
              <a:t>Počítačová vizualizace</a:t>
            </a:r>
          </a:p>
        </p:txBody>
      </p:sp>
      <p:sp>
        <p:nvSpPr>
          <p:cNvPr id="3" name="Zástupný obsah 2">
            <a:extLst>
              <a:ext uri="{FF2B5EF4-FFF2-40B4-BE49-F238E27FC236}">
                <a16:creationId xmlns:a16="http://schemas.microsoft.com/office/drawing/2014/main" id="{6E7D9E50-243D-48AE-B499-7136AEC0838A}"/>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cs-CZ" dirty="0"/>
              <a:t>Nástroje pro počítačovou vizualizace</a:t>
            </a:r>
          </a:p>
          <a:p>
            <a:pPr lvl="1">
              <a:buFont typeface="Arial" panose="020B0604020202020204" pitchFamily="34" charset="0"/>
              <a:buChar char="•"/>
            </a:pPr>
            <a:r>
              <a:rPr lang="cs-CZ" dirty="0"/>
              <a:t>Pro statickou vizualizaci – běžně v CAD aplikacích</a:t>
            </a:r>
          </a:p>
          <a:p>
            <a:pPr lvl="1">
              <a:buFont typeface="Arial" panose="020B0604020202020204" pitchFamily="34" charset="0"/>
              <a:buChar char="•"/>
            </a:pPr>
            <a:r>
              <a:rPr lang="cs-CZ" dirty="0"/>
              <a:t>Potřeba animace – využití animačních nástrojů (3DS Max atd)</a:t>
            </a:r>
          </a:p>
          <a:p>
            <a:pPr lvl="1">
              <a:buFont typeface="Arial" panose="020B0604020202020204" pitchFamily="34" charset="0"/>
              <a:buChar char="•"/>
            </a:pPr>
            <a:r>
              <a:rPr lang="cs-CZ" dirty="0"/>
              <a:t>Podstata = scéna; základní objekty jsou z těles a ploch</a:t>
            </a:r>
          </a:p>
          <a:p>
            <a:pPr lvl="1">
              <a:buFont typeface="Arial" panose="020B0604020202020204" pitchFamily="34" charset="0"/>
              <a:buChar char="•"/>
            </a:pPr>
            <a:r>
              <a:rPr lang="cs-CZ" b="1" dirty="0"/>
              <a:t>Inverzní kinematika </a:t>
            </a:r>
            <a:r>
              <a:rPr lang="cs-CZ" dirty="0"/>
              <a:t>– chování objektu v závislosti na jiném objektu (jednoduché mechanické stroje)</a:t>
            </a:r>
          </a:p>
          <a:p>
            <a:pPr lvl="1">
              <a:buFont typeface="Arial" panose="020B0604020202020204" pitchFamily="34" charset="0"/>
              <a:buChar char="•"/>
            </a:pPr>
            <a:r>
              <a:rPr lang="cs-CZ" dirty="0"/>
              <a:t>Materiály – transformace bitových map</a:t>
            </a:r>
          </a:p>
          <a:p>
            <a:pPr lvl="1">
              <a:buFont typeface="Arial" panose="020B0604020202020204" pitchFamily="34" charset="0"/>
              <a:buChar char="•"/>
            </a:pPr>
            <a:r>
              <a:rPr lang="cs-CZ" dirty="0"/>
              <a:t>Scéna je doplněna kamerou – základní sledovací bod</a:t>
            </a:r>
          </a:p>
          <a:p>
            <a:pPr lvl="1">
              <a:buFont typeface="Arial" panose="020B0604020202020204" pitchFamily="34" charset="0"/>
              <a:buChar char="•"/>
            </a:pPr>
            <a:r>
              <a:rPr lang="cs-CZ" dirty="0"/>
              <a:t>Osvětlení scény – různé typy světel a jejich efektů</a:t>
            </a:r>
          </a:p>
          <a:p>
            <a:pPr>
              <a:buFont typeface="Arial" panose="020B0604020202020204" pitchFamily="34" charset="0"/>
              <a:buChar char="•"/>
            </a:pPr>
            <a:r>
              <a:rPr lang="cs-CZ" dirty="0"/>
              <a:t>Metody vizualizace</a:t>
            </a:r>
          </a:p>
          <a:p>
            <a:pPr lvl="1">
              <a:buFont typeface="Arial" panose="020B0604020202020204" pitchFamily="34" charset="0"/>
              <a:buChar char="•"/>
            </a:pPr>
            <a:r>
              <a:rPr lang="cs-CZ" dirty="0"/>
              <a:t>Základní nástroj – výpočetní algoritmus </a:t>
            </a:r>
            <a:r>
              <a:rPr lang="cs-CZ" b="1" dirty="0" err="1"/>
              <a:t>render</a:t>
            </a:r>
            <a:r>
              <a:rPr lang="cs-CZ" dirty="0"/>
              <a:t> – pracuje s jednoduchým povrchem objektů (odvození od barvy vektor. modelu)</a:t>
            </a:r>
          </a:p>
          <a:p>
            <a:pPr lvl="1">
              <a:buFont typeface="Arial" panose="020B0604020202020204" pitchFamily="34" charset="0"/>
              <a:buChar char="•"/>
            </a:pPr>
            <a:r>
              <a:rPr lang="cs-CZ" dirty="0"/>
              <a:t>Výpočet složitějších povrchů, stínů – </a:t>
            </a:r>
            <a:r>
              <a:rPr lang="cs-CZ" b="1" dirty="0"/>
              <a:t>fotorealistický algoritmus</a:t>
            </a:r>
            <a:r>
              <a:rPr lang="cs-CZ" dirty="0"/>
              <a:t>, součástí je metoda </a:t>
            </a:r>
            <a:r>
              <a:rPr lang="cs-CZ" b="1" dirty="0" err="1"/>
              <a:t>raytracing</a:t>
            </a:r>
            <a:r>
              <a:rPr lang="cs-CZ" dirty="0"/>
              <a:t> (sledování dráhy paprsku) – přesný výpočet scény s průhledností objektů a lomu paprsků</a:t>
            </a:r>
          </a:p>
          <a:p>
            <a:pPr lvl="1">
              <a:buFont typeface="Arial" panose="020B0604020202020204" pitchFamily="34" charset="0"/>
              <a:buChar char="•"/>
            </a:pPr>
            <a:r>
              <a:rPr lang="cs-CZ" dirty="0"/>
              <a:t>Výpočet scény algoritmem </a:t>
            </a:r>
            <a:r>
              <a:rPr lang="cs-CZ" b="1" dirty="0" err="1"/>
              <a:t>radiozita</a:t>
            </a:r>
            <a:r>
              <a:rPr lang="cs-CZ" dirty="0"/>
              <a:t> – pracuje i s nepřímými zdroji světla (násobné odrazy atd)</a:t>
            </a:r>
          </a:p>
          <a:p>
            <a:pPr lvl="1">
              <a:buFont typeface="Arial" panose="020B0604020202020204" pitchFamily="34" charset="0"/>
              <a:buChar char="•"/>
            </a:pPr>
            <a:r>
              <a:rPr lang="cs-CZ" b="1" dirty="0" err="1"/>
              <a:t>Renderfarma</a:t>
            </a:r>
            <a:r>
              <a:rPr lang="cs-CZ" dirty="0"/>
              <a:t> – více PC, které </a:t>
            </a:r>
            <a:r>
              <a:rPr lang="cs-CZ" dirty="0" err="1"/>
              <a:t>renderují</a:t>
            </a:r>
            <a:r>
              <a:rPr lang="cs-CZ" dirty="0"/>
              <a:t> společně (na jednom PC by to trvalo dlouho)</a:t>
            </a:r>
            <a:endParaRPr lang="cs-CZ" b="1" dirty="0"/>
          </a:p>
        </p:txBody>
      </p:sp>
    </p:spTree>
    <p:extLst>
      <p:ext uri="{BB962C8B-B14F-4D97-AF65-F5344CB8AC3E}">
        <p14:creationId xmlns:p14="http://schemas.microsoft.com/office/powerpoint/2010/main" val="3181757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C1A7B353-37EE-4EF3-B1ED-A0E0C57E5CF0}"/>
              </a:ext>
            </a:extLst>
          </p:cNvPr>
          <p:cNvPicPr>
            <a:picLocks noChangeAspect="1"/>
          </p:cNvPicPr>
          <p:nvPr/>
        </p:nvPicPr>
        <p:blipFill>
          <a:blip r:embed="rId2"/>
          <a:stretch>
            <a:fillRect/>
          </a:stretch>
        </p:blipFill>
        <p:spPr>
          <a:xfrm>
            <a:off x="626019" y="1829089"/>
            <a:ext cx="4966283" cy="3199821"/>
          </a:xfrm>
          <a:prstGeom prst="rect">
            <a:avLst/>
          </a:prstGeom>
        </p:spPr>
      </p:pic>
      <p:pic>
        <p:nvPicPr>
          <p:cNvPr id="5" name="Obrázek 4">
            <a:extLst>
              <a:ext uri="{FF2B5EF4-FFF2-40B4-BE49-F238E27FC236}">
                <a16:creationId xmlns:a16="http://schemas.microsoft.com/office/drawing/2014/main" id="{B690E790-6E8A-4A7B-95D9-72C96322843C}"/>
              </a:ext>
            </a:extLst>
          </p:cNvPr>
          <p:cNvPicPr>
            <a:picLocks noChangeAspect="1"/>
          </p:cNvPicPr>
          <p:nvPr/>
        </p:nvPicPr>
        <p:blipFill>
          <a:blip r:embed="rId3"/>
          <a:stretch>
            <a:fillRect/>
          </a:stretch>
        </p:blipFill>
        <p:spPr>
          <a:xfrm>
            <a:off x="5911442" y="210555"/>
            <a:ext cx="6095999" cy="1968500"/>
          </a:xfrm>
          <a:prstGeom prst="rect">
            <a:avLst/>
          </a:prstGeom>
        </p:spPr>
      </p:pic>
      <p:pic>
        <p:nvPicPr>
          <p:cNvPr id="7" name="Obrázek 6">
            <a:extLst>
              <a:ext uri="{FF2B5EF4-FFF2-40B4-BE49-F238E27FC236}">
                <a16:creationId xmlns:a16="http://schemas.microsoft.com/office/drawing/2014/main" id="{9FF80686-6C93-404D-B1BB-A1A7B1ED5650}"/>
              </a:ext>
            </a:extLst>
          </p:cNvPr>
          <p:cNvPicPr>
            <a:picLocks noChangeAspect="1"/>
          </p:cNvPicPr>
          <p:nvPr/>
        </p:nvPicPr>
        <p:blipFill>
          <a:blip r:embed="rId4"/>
          <a:stretch>
            <a:fillRect/>
          </a:stretch>
        </p:blipFill>
        <p:spPr>
          <a:xfrm>
            <a:off x="5911442" y="2906176"/>
            <a:ext cx="4719484" cy="3008671"/>
          </a:xfrm>
          <a:prstGeom prst="rect">
            <a:avLst/>
          </a:prstGeom>
        </p:spPr>
      </p:pic>
    </p:spTree>
    <p:extLst>
      <p:ext uri="{BB962C8B-B14F-4D97-AF65-F5344CB8AC3E}">
        <p14:creationId xmlns:p14="http://schemas.microsoft.com/office/powerpoint/2010/main" val="3312758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04673B8-F89A-463E-B9E4-5A4051A962EE}"/>
              </a:ext>
            </a:extLst>
          </p:cNvPr>
          <p:cNvSpPr>
            <a:spLocks noGrp="1"/>
          </p:cNvSpPr>
          <p:nvPr>
            <p:ph type="title"/>
          </p:nvPr>
        </p:nvSpPr>
        <p:spPr/>
        <p:txBody>
          <a:bodyPr/>
          <a:lstStyle/>
          <a:p>
            <a:r>
              <a:rPr lang="cs-CZ" dirty="0"/>
              <a:t>Počítačová vizualizace</a:t>
            </a:r>
          </a:p>
        </p:txBody>
      </p:sp>
      <p:sp>
        <p:nvSpPr>
          <p:cNvPr id="3" name="Zástupný obsah 2">
            <a:extLst>
              <a:ext uri="{FF2B5EF4-FFF2-40B4-BE49-F238E27FC236}">
                <a16:creationId xmlns:a16="http://schemas.microsoft.com/office/drawing/2014/main" id="{B2093A5A-F231-4512-8E4F-D2940723449E}"/>
              </a:ext>
            </a:extLst>
          </p:cNvPr>
          <p:cNvSpPr>
            <a:spLocks noGrp="1"/>
          </p:cNvSpPr>
          <p:nvPr>
            <p:ph idx="1"/>
          </p:nvPr>
        </p:nvSpPr>
        <p:spPr/>
        <p:txBody>
          <a:bodyPr/>
          <a:lstStyle/>
          <a:p>
            <a:pPr>
              <a:buFont typeface="Arial" panose="020B0604020202020204" pitchFamily="34" charset="0"/>
              <a:buChar char="•"/>
            </a:pPr>
            <a:r>
              <a:rPr lang="cs-CZ" dirty="0"/>
              <a:t>Metody vizualizace</a:t>
            </a:r>
          </a:p>
          <a:p>
            <a:pPr lvl="1">
              <a:buFont typeface="Arial" panose="020B0604020202020204" pitchFamily="34" charset="0"/>
              <a:buChar char="•"/>
            </a:pPr>
            <a:r>
              <a:rPr lang="cs-CZ" dirty="0"/>
              <a:t>Mapování textur – způsob nanášení textur na objekt (– mapování)</a:t>
            </a:r>
          </a:p>
          <a:p>
            <a:pPr lvl="1">
              <a:buFont typeface="Arial" panose="020B0604020202020204" pitchFamily="34" charset="0"/>
              <a:buChar char="•"/>
            </a:pPr>
            <a:r>
              <a:rPr lang="cs-CZ" dirty="0"/>
              <a:t>Textura – speciální obrázek definující povrch objektu (i odlesk, průhlednost, nerovnosti atd)</a:t>
            </a:r>
          </a:p>
          <a:p>
            <a:pPr lvl="1">
              <a:buFont typeface="Arial" panose="020B0604020202020204" pitchFamily="34" charset="0"/>
              <a:buChar char="•"/>
            </a:pPr>
            <a:r>
              <a:rPr lang="cs-CZ" dirty="0"/>
              <a:t>Reálné výsledky pomocí osvětlení – bodové světlo, reflektor, vzdálené rozptýlené světlo</a:t>
            </a:r>
          </a:p>
          <a:p>
            <a:pPr lvl="1">
              <a:buFont typeface="Arial" panose="020B0604020202020204" pitchFamily="34" charset="0"/>
              <a:buChar char="•"/>
            </a:pPr>
            <a:r>
              <a:rPr lang="cs-CZ" dirty="0"/>
              <a:t>Globální osvětlení – metoda reálnějšího osvětlení scény</a:t>
            </a:r>
          </a:p>
          <a:p>
            <a:pPr lvl="1">
              <a:buFont typeface="Arial" panose="020B0604020202020204" pitchFamily="34" charset="0"/>
              <a:buChar char="•"/>
            </a:pPr>
            <a:r>
              <a:rPr lang="cs-CZ" dirty="0" err="1"/>
              <a:t>HDRi</a:t>
            </a:r>
            <a:r>
              <a:rPr lang="cs-CZ" dirty="0"/>
              <a:t> – používá speciální bitmapu HDR; realistické</a:t>
            </a:r>
          </a:p>
          <a:p>
            <a:pPr lvl="2">
              <a:buFont typeface="Arial" panose="020B0604020202020204" pitchFamily="34" charset="0"/>
              <a:buChar char="•"/>
            </a:pPr>
            <a:r>
              <a:rPr lang="cs-CZ" dirty="0"/>
              <a:t>HDR obsahuje informace o všech světlech na scéně; u scén s lesklými objekty</a:t>
            </a:r>
          </a:p>
          <a:p>
            <a:pPr lvl="1">
              <a:buFont typeface="Arial" panose="020B0604020202020204" pitchFamily="34" charset="0"/>
              <a:buChar char="•"/>
            </a:pPr>
            <a:r>
              <a:rPr lang="cs-CZ" dirty="0"/>
              <a:t>Efektové filtry – mlha, vlnění vody, oheň atd (nutnost pro hry například)</a:t>
            </a:r>
          </a:p>
          <a:p>
            <a:pPr lvl="1">
              <a:buFont typeface="Arial" panose="020B0604020202020204" pitchFamily="34" charset="0"/>
              <a:buChar char="•"/>
            </a:pPr>
            <a:r>
              <a:rPr lang="cs-CZ" dirty="0" err="1"/>
              <a:t>Particle</a:t>
            </a:r>
            <a:r>
              <a:rPr lang="cs-CZ" dirty="0"/>
              <a:t> Systém – shluky malých částic s podobnými vlastnostmi a chováním (kouř, voda, dav lidí)</a:t>
            </a:r>
          </a:p>
          <a:p>
            <a:pPr lvl="2">
              <a:buFont typeface="Arial" panose="020B0604020202020204" pitchFamily="34" charset="0"/>
              <a:buChar char="•"/>
            </a:pPr>
            <a:r>
              <a:rPr lang="cs-CZ" dirty="0"/>
              <a:t>Vysoké nároky na </a:t>
            </a:r>
            <a:r>
              <a:rPr lang="cs-CZ" dirty="0" err="1"/>
              <a:t>rendering</a:t>
            </a:r>
            <a:r>
              <a:rPr lang="cs-CZ" dirty="0"/>
              <a:t> – často nahrazené reálnými záběry</a:t>
            </a:r>
          </a:p>
        </p:txBody>
      </p:sp>
    </p:spTree>
    <p:extLst>
      <p:ext uri="{BB962C8B-B14F-4D97-AF65-F5344CB8AC3E}">
        <p14:creationId xmlns:p14="http://schemas.microsoft.com/office/powerpoint/2010/main" val="2712385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8673A63-6EBE-446B-B24B-84BC937133EA}"/>
              </a:ext>
            </a:extLst>
          </p:cNvPr>
          <p:cNvSpPr>
            <a:spLocks noGrp="1"/>
          </p:cNvSpPr>
          <p:nvPr>
            <p:ph type="title"/>
          </p:nvPr>
        </p:nvSpPr>
        <p:spPr/>
        <p:txBody>
          <a:bodyPr/>
          <a:lstStyle/>
          <a:p>
            <a:r>
              <a:rPr lang="cs-CZ" dirty="0"/>
              <a:t>Virtuální realita</a:t>
            </a:r>
          </a:p>
        </p:txBody>
      </p:sp>
      <p:sp>
        <p:nvSpPr>
          <p:cNvPr id="3" name="Zástupný obsah 2">
            <a:extLst>
              <a:ext uri="{FF2B5EF4-FFF2-40B4-BE49-F238E27FC236}">
                <a16:creationId xmlns:a16="http://schemas.microsoft.com/office/drawing/2014/main" id="{8C0983AA-EA64-42B2-BA70-8818DE5416B1}"/>
              </a:ext>
            </a:extLst>
          </p:cNvPr>
          <p:cNvSpPr>
            <a:spLocks noGrp="1"/>
          </p:cNvSpPr>
          <p:nvPr>
            <p:ph idx="1"/>
          </p:nvPr>
        </p:nvSpPr>
        <p:spPr/>
        <p:txBody>
          <a:bodyPr>
            <a:normAutofit/>
          </a:bodyPr>
          <a:lstStyle/>
          <a:p>
            <a:pPr>
              <a:buFont typeface="Arial" panose="020B0604020202020204" pitchFamily="34" charset="0"/>
              <a:buChar char="•"/>
            </a:pPr>
            <a:r>
              <a:rPr lang="cs-CZ" dirty="0"/>
              <a:t>Speciální zařízeními – cílem je oprostit uživatele od vjemů venkovního světa</a:t>
            </a:r>
          </a:p>
          <a:p>
            <a:pPr>
              <a:buFont typeface="Arial" panose="020B0604020202020204" pitchFamily="34" charset="0"/>
              <a:buChar char="•"/>
            </a:pPr>
            <a:r>
              <a:rPr lang="cs-CZ" dirty="0"/>
              <a:t>3D modelování, zobrazení digitálně vizualizovaného světa s přímou interakcí</a:t>
            </a:r>
          </a:p>
          <a:p>
            <a:pPr>
              <a:buFont typeface="Arial" panose="020B0604020202020204" pitchFamily="34" charset="0"/>
              <a:buChar char="•"/>
            </a:pPr>
            <a:r>
              <a:rPr lang="cs-CZ" dirty="0"/>
              <a:t>Virtuální svět může být velice realistický</a:t>
            </a:r>
          </a:p>
          <a:p>
            <a:pPr>
              <a:buFont typeface="Arial" panose="020B0604020202020204" pitchFamily="34" charset="0"/>
              <a:buChar char="•"/>
            </a:pPr>
            <a:r>
              <a:rPr lang="cs-CZ" dirty="0"/>
              <a:t>Základem je výkonný 3D on-line zobrazovací </a:t>
            </a:r>
            <a:r>
              <a:rPr lang="cs-CZ" dirty="0" err="1"/>
              <a:t>OpenGL</a:t>
            </a:r>
            <a:r>
              <a:rPr lang="cs-CZ" dirty="0"/>
              <a:t> </a:t>
            </a:r>
            <a:r>
              <a:rPr lang="cs-CZ" dirty="0" err="1"/>
              <a:t>engine</a:t>
            </a:r>
            <a:r>
              <a:rPr lang="cs-CZ" dirty="0"/>
              <a:t> a </a:t>
            </a:r>
            <a:r>
              <a:rPr lang="cs-CZ" dirty="0" err="1"/>
              <a:t>fyzikálni</a:t>
            </a:r>
            <a:r>
              <a:rPr lang="cs-CZ" dirty="0"/>
              <a:t> model</a:t>
            </a:r>
          </a:p>
          <a:p>
            <a:pPr>
              <a:buFont typeface="Arial" panose="020B0604020202020204" pitchFamily="34" charset="0"/>
              <a:buChar char="•"/>
            </a:pPr>
            <a:r>
              <a:rPr lang="cs-CZ" dirty="0"/>
              <a:t>Komerční nasazení – letecký simulátor, simulátor náročných operací v medicíně atd</a:t>
            </a:r>
          </a:p>
          <a:p>
            <a:pPr>
              <a:buFont typeface="Arial" panose="020B0604020202020204" pitchFamily="34" charset="0"/>
              <a:buChar char="•"/>
            </a:pPr>
            <a:r>
              <a:rPr lang="cs-CZ" dirty="0"/>
              <a:t>Proniká i do zábavního průmyslu – IMAX </a:t>
            </a:r>
            <a:r>
              <a:rPr lang="cs-CZ" dirty="0" err="1"/>
              <a:t>Corporation</a:t>
            </a:r>
            <a:r>
              <a:rPr lang="cs-CZ" dirty="0"/>
              <a:t> – více než 250 IMAX kin po světě</a:t>
            </a:r>
          </a:p>
          <a:p>
            <a:pPr>
              <a:buFont typeface="Arial" panose="020B0604020202020204" pitchFamily="34" charset="0"/>
              <a:buChar char="•"/>
            </a:pPr>
            <a:r>
              <a:rPr lang="cs-CZ" dirty="0"/>
              <a:t>IMAX využívá 70mm film s 15 perforacemi – nejkvalitnější filmový materiál na světě</a:t>
            </a:r>
          </a:p>
          <a:p>
            <a:pPr lvl="1">
              <a:buFont typeface="Arial" panose="020B0604020202020204" pitchFamily="34" charset="0"/>
              <a:buChar char="•"/>
            </a:pPr>
            <a:r>
              <a:rPr lang="cs-CZ" dirty="0"/>
              <a:t>Více než 10 krát větší než klasické filmové okénko 35mm</a:t>
            </a:r>
          </a:p>
        </p:txBody>
      </p:sp>
    </p:spTree>
    <p:extLst>
      <p:ext uri="{BB962C8B-B14F-4D97-AF65-F5344CB8AC3E}">
        <p14:creationId xmlns:p14="http://schemas.microsoft.com/office/powerpoint/2010/main" val="1155095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AD618D4-4C84-4520-B1F5-264E76E3222E}"/>
              </a:ext>
            </a:extLst>
          </p:cNvPr>
          <p:cNvSpPr>
            <a:spLocks noGrp="1"/>
          </p:cNvSpPr>
          <p:nvPr>
            <p:ph type="title"/>
          </p:nvPr>
        </p:nvSpPr>
        <p:spPr/>
        <p:txBody>
          <a:bodyPr/>
          <a:lstStyle/>
          <a:p>
            <a:r>
              <a:rPr lang="cs-CZ" dirty="0"/>
              <a:t>Virtuální realita</a:t>
            </a:r>
          </a:p>
        </p:txBody>
      </p:sp>
      <p:sp>
        <p:nvSpPr>
          <p:cNvPr id="3" name="Zástupný obsah 2">
            <a:extLst>
              <a:ext uri="{FF2B5EF4-FFF2-40B4-BE49-F238E27FC236}">
                <a16:creationId xmlns:a16="http://schemas.microsoft.com/office/drawing/2014/main" id="{6AC0BEE0-C993-49F2-9066-B7207260EE5B}"/>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cs-CZ" dirty="0"/>
              <a:t>Technické prostředky pro VR</a:t>
            </a:r>
          </a:p>
          <a:p>
            <a:pPr lvl="1">
              <a:buFont typeface="Arial" panose="020B0604020202020204" pitchFamily="34" charset="0"/>
              <a:buChar char="•"/>
            </a:pPr>
            <a:r>
              <a:rPr lang="cs-CZ" dirty="0"/>
              <a:t>Nové UI – přiblížení virtuálního světa tak, jak ho zachycují smysly (zrak, hmat, sluch; čich, chuť experimentálně)</a:t>
            </a:r>
          </a:p>
          <a:p>
            <a:pPr lvl="1">
              <a:buFont typeface="Arial" panose="020B0604020202020204" pitchFamily="34" charset="0"/>
              <a:buChar char="•"/>
            </a:pPr>
            <a:r>
              <a:rPr lang="cs-CZ" dirty="0"/>
              <a:t>Zrak – 3D prostorový obraz – vysoký </a:t>
            </a:r>
            <a:r>
              <a:rPr lang="cs-CZ" dirty="0" err="1"/>
              <a:t>framerate</a:t>
            </a:r>
            <a:r>
              <a:rPr lang="cs-CZ" dirty="0"/>
              <a:t> (minimálně 50 </a:t>
            </a:r>
            <a:r>
              <a:rPr lang="cs-CZ" dirty="0" err="1"/>
              <a:t>fps</a:t>
            </a:r>
            <a:r>
              <a:rPr lang="cs-CZ" dirty="0"/>
              <a:t> pro přirozený obraz)</a:t>
            </a:r>
          </a:p>
          <a:p>
            <a:pPr lvl="2">
              <a:buFont typeface="Arial" panose="020B0604020202020204" pitchFamily="34" charset="0"/>
              <a:buChar char="•"/>
            </a:pPr>
            <a:r>
              <a:rPr lang="cs-CZ" dirty="0"/>
              <a:t>Stereoskopický (pro každé oko trošku jiný) – speciální brýle – pomocí filtrů odliší obrazy pro každé oko – nedokonalé</a:t>
            </a:r>
          </a:p>
          <a:p>
            <a:pPr lvl="2">
              <a:buFont typeface="Arial" panose="020B0604020202020204" pitchFamily="34" charset="0"/>
              <a:buChar char="•"/>
            </a:pPr>
            <a:r>
              <a:rPr lang="cs-CZ" dirty="0"/>
              <a:t>Různé stereoskopické displeje zabudované do přilby – pro každé oko jeden LCD panel; FOV – okolo 120° až 180°</a:t>
            </a:r>
          </a:p>
          <a:p>
            <a:pPr lvl="2">
              <a:buFont typeface="Arial" panose="020B0604020202020204" pitchFamily="34" charset="0"/>
              <a:buChar char="•"/>
            </a:pPr>
            <a:r>
              <a:rPr lang="cs-CZ" dirty="0"/>
              <a:t>Změna obrazu podle pohybu očí, hlavy – v reálném čase</a:t>
            </a:r>
          </a:p>
          <a:p>
            <a:pPr lvl="3">
              <a:buFont typeface="Arial" panose="020B0604020202020204" pitchFamily="34" charset="0"/>
              <a:buChar char="•"/>
            </a:pPr>
            <a:r>
              <a:rPr lang="cs-CZ" dirty="0"/>
              <a:t>Triky – např. detaily jen uprostřed atd</a:t>
            </a:r>
          </a:p>
          <a:p>
            <a:pPr lvl="3">
              <a:buFont typeface="Arial" panose="020B0604020202020204" pitchFamily="34" charset="0"/>
              <a:buChar char="•"/>
            </a:pPr>
            <a:r>
              <a:rPr lang="cs-CZ" dirty="0"/>
              <a:t>I přes ty triky ani výkonné </a:t>
            </a:r>
            <a:r>
              <a:rPr lang="cs-CZ" dirty="0" err="1"/>
              <a:t>pc</a:t>
            </a:r>
            <a:r>
              <a:rPr lang="cs-CZ" dirty="0"/>
              <a:t> nezvládají prudké pohyby hlavy a očí</a:t>
            </a:r>
          </a:p>
          <a:p>
            <a:pPr lvl="1">
              <a:buFont typeface="Arial" panose="020B0604020202020204" pitchFamily="34" charset="0"/>
              <a:buChar char="•"/>
            </a:pPr>
            <a:r>
              <a:rPr lang="cs-CZ" dirty="0"/>
              <a:t>Zvuk – podobně jako zrak – v přilbě jsou zabudována sluchátka – pro každé ucho jedno nezávislé</a:t>
            </a:r>
          </a:p>
          <a:p>
            <a:pPr lvl="2">
              <a:buFont typeface="Arial" panose="020B0604020202020204" pitchFamily="34" charset="0"/>
              <a:buChar char="•"/>
            </a:pPr>
            <a:r>
              <a:rPr lang="cs-CZ" dirty="0"/>
              <a:t>Požadavek – dokonalý prostorový interaktivní zvuk – </a:t>
            </a:r>
            <a:r>
              <a:rPr lang="cs-CZ" dirty="0" err="1"/>
              <a:t>pc</a:t>
            </a:r>
            <a:r>
              <a:rPr lang="cs-CZ" dirty="0"/>
              <a:t> musí pracovat s co nejlepším akustickým modelem daného prostředí včetně detailů – vygeneruje zvuk na základě každého zdroje + natočení hlavy</a:t>
            </a:r>
          </a:p>
          <a:p>
            <a:pPr lvl="1">
              <a:buFont typeface="Arial" panose="020B0604020202020204" pitchFamily="34" charset="0"/>
              <a:buChar char="•"/>
            </a:pPr>
            <a:r>
              <a:rPr lang="cs-CZ" dirty="0"/>
              <a:t>Hmat – Zatím celkem slabé</a:t>
            </a:r>
          </a:p>
          <a:p>
            <a:pPr lvl="2">
              <a:buFont typeface="Arial" panose="020B0604020202020204" pitchFamily="34" charset="0"/>
              <a:buChar char="•"/>
            </a:pPr>
            <a:r>
              <a:rPr lang="cs-CZ" dirty="0"/>
              <a:t>Datový oblek (drahý) – informuje </a:t>
            </a:r>
            <a:r>
              <a:rPr lang="cs-CZ" dirty="0" err="1"/>
              <a:t>pc</a:t>
            </a:r>
            <a:r>
              <a:rPr lang="cs-CZ" dirty="0"/>
              <a:t> o pohybu uživatele ve virtuálním prostoru a poskytuje zpětnou vazbu – hmatová i silová reakce</a:t>
            </a:r>
          </a:p>
          <a:p>
            <a:pPr lvl="2">
              <a:buFont typeface="Arial" panose="020B0604020202020204" pitchFamily="34" charset="0"/>
              <a:buChar char="•"/>
            </a:pPr>
            <a:r>
              <a:rPr lang="cs-CZ" dirty="0"/>
              <a:t>Zvednutý předmět musíme nejen cítit, ale musíme mít pocit, že něco váží</a:t>
            </a:r>
          </a:p>
          <a:p>
            <a:pPr lvl="2">
              <a:buFont typeface="Arial" panose="020B0604020202020204" pitchFamily="34" charset="0"/>
              <a:buChar char="•"/>
            </a:pPr>
            <a:r>
              <a:rPr lang="cs-CZ" dirty="0"/>
              <a:t>Realistické řešení – rozpoznávání změny teploty, přenos silového působení z místa na celé tělo, bolestivé reakce (při prudkém nárazu atd)</a:t>
            </a:r>
          </a:p>
          <a:p>
            <a:pPr lvl="3">
              <a:buFont typeface="Arial" panose="020B0604020202020204" pitchFamily="34" charset="0"/>
              <a:buChar char="•"/>
            </a:pPr>
            <a:r>
              <a:rPr lang="cs-CZ" dirty="0"/>
              <a:t>Současná technika nedokáže</a:t>
            </a:r>
          </a:p>
          <a:p>
            <a:pPr lvl="2">
              <a:buFont typeface="Arial" panose="020B0604020202020204" pitchFamily="34" charset="0"/>
              <a:buChar char="•"/>
            </a:pPr>
            <a:r>
              <a:rPr lang="cs-CZ" dirty="0"/>
              <a:t>Datový oblek je nepříjemný na nošení a hodně nedokonalý – často jen datová rukavice (někdy i bez zpětné vazby)</a:t>
            </a:r>
          </a:p>
        </p:txBody>
      </p:sp>
    </p:spTree>
    <p:extLst>
      <p:ext uri="{BB962C8B-B14F-4D97-AF65-F5344CB8AC3E}">
        <p14:creationId xmlns:p14="http://schemas.microsoft.com/office/powerpoint/2010/main" val="1334011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98D2B2-B10B-4984-AC94-0003D950696C}"/>
              </a:ext>
            </a:extLst>
          </p:cNvPr>
          <p:cNvSpPr>
            <a:spLocks noGrp="1"/>
          </p:cNvSpPr>
          <p:nvPr>
            <p:ph type="title"/>
          </p:nvPr>
        </p:nvSpPr>
        <p:spPr/>
        <p:txBody>
          <a:bodyPr/>
          <a:lstStyle/>
          <a:p>
            <a:r>
              <a:rPr lang="cs-CZ" dirty="0"/>
              <a:t>Virtuální realita</a:t>
            </a:r>
          </a:p>
        </p:txBody>
      </p:sp>
      <p:sp>
        <p:nvSpPr>
          <p:cNvPr id="3" name="Zástupný obsah 2">
            <a:extLst>
              <a:ext uri="{FF2B5EF4-FFF2-40B4-BE49-F238E27FC236}">
                <a16:creationId xmlns:a16="http://schemas.microsoft.com/office/drawing/2014/main" id="{088D9D51-2601-4AC5-92FF-EF94B72D614A}"/>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cs-CZ" dirty="0"/>
              <a:t>Stupně virtualizace</a:t>
            </a:r>
          </a:p>
          <a:p>
            <a:pPr lvl="1">
              <a:buFont typeface="Arial" panose="020B0604020202020204" pitchFamily="34" charset="0"/>
              <a:buChar char="•"/>
            </a:pPr>
            <a:r>
              <a:rPr lang="cs-CZ" dirty="0"/>
              <a:t>Pasivní aplikace</a:t>
            </a:r>
          </a:p>
          <a:p>
            <a:pPr lvl="2">
              <a:buFont typeface="Arial" panose="020B0604020202020204" pitchFamily="34" charset="0"/>
              <a:buChar char="•"/>
            </a:pPr>
            <a:r>
              <a:rPr lang="cs-CZ" dirty="0"/>
              <a:t>Podobná jako film – bez interakce, řízení průchodu je plně v rukou programu</a:t>
            </a:r>
          </a:p>
          <a:p>
            <a:pPr lvl="2">
              <a:buFont typeface="Arial" panose="020B0604020202020204" pitchFamily="34" charset="0"/>
              <a:buChar char="•"/>
            </a:pPr>
            <a:r>
              <a:rPr lang="cs-CZ" dirty="0"/>
              <a:t>Např. stereoskopický film, telekonference (ale ve virtuálním prostoru se nemohou hýbat, jen mluvit)</a:t>
            </a:r>
          </a:p>
          <a:p>
            <a:pPr lvl="1">
              <a:buFont typeface="Arial" panose="020B0604020202020204" pitchFamily="34" charset="0"/>
              <a:buChar char="•"/>
            </a:pPr>
            <a:r>
              <a:rPr lang="cs-CZ" dirty="0"/>
              <a:t>Aktivní aplikace</a:t>
            </a:r>
          </a:p>
          <a:p>
            <a:pPr lvl="2">
              <a:buFont typeface="Arial" panose="020B0604020202020204" pitchFamily="34" charset="0"/>
              <a:buChar char="•"/>
            </a:pPr>
            <a:r>
              <a:rPr lang="cs-CZ" dirty="0"/>
              <a:t>S interakcí</a:t>
            </a:r>
          </a:p>
          <a:p>
            <a:pPr lvl="2">
              <a:buFont typeface="Arial" panose="020B0604020202020204" pitchFamily="34" charset="0"/>
              <a:buChar char="•"/>
            </a:pPr>
            <a:r>
              <a:rPr lang="cs-CZ" dirty="0"/>
              <a:t>Lze se libovolně pohybovat, zkoumat prostředí ze všech stran, slyšet odpovídající zvuk</a:t>
            </a:r>
          </a:p>
          <a:p>
            <a:pPr lvl="2">
              <a:buFont typeface="Arial" panose="020B0604020202020204" pitchFamily="34" charset="0"/>
              <a:buChar char="•"/>
            </a:pPr>
            <a:r>
              <a:rPr lang="cs-CZ" dirty="0"/>
              <a:t>Chybí hmatová zpětná vazba – není možno modifikovat prostředí – nelze přemisťovat objekty, otevírat dveře atd</a:t>
            </a:r>
          </a:p>
          <a:p>
            <a:pPr lvl="2">
              <a:buFont typeface="Arial" panose="020B0604020202020204" pitchFamily="34" charset="0"/>
              <a:buChar char="•"/>
            </a:pPr>
            <a:r>
              <a:rPr lang="cs-CZ" dirty="0"/>
              <a:t>Pohyb – podobně jako duch (procházení stěnami, prostrčení ruky předmětem…)</a:t>
            </a:r>
          </a:p>
          <a:p>
            <a:pPr lvl="2">
              <a:buFont typeface="Arial" panose="020B0604020202020204" pitchFamily="34" charset="0"/>
              <a:buChar char="•"/>
            </a:pPr>
            <a:r>
              <a:rPr lang="cs-CZ" dirty="0"/>
              <a:t>Např. léčebný efekt fóbií (strach z výšek třeba), duševních poruch</a:t>
            </a:r>
          </a:p>
          <a:p>
            <a:pPr lvl="2">
              <a:buFont typeface="Arial" panose="020B0604020202020204" pitchFamily="34" charset="0"/>
              <a:buChar char="•"/>
            </a:pPr>
            <a:r>
              <a:rPr lang="cs-CZ" dirty="0"/>
              <a:t>Prezentace virtuálních uměleckých děl, prohlížení dosud nepostavených budov, meteorologie, řízení leteckého provozu, vědecké využití (zobrazení vícerozměrných grafů atd), hledání nepřítele za účelem likvidace, simulace střelby, letecké trenažery, ovládání robota na dálku…</a:t>
            </a:r>
          </a:p>
          <a:p>
            <a:pPr lvl="1">
              <a:buFont typeface="Arial" panose="020B0604020202020204" pitchFamily="34" charset="0"/>
              <a:buChar char="•"/>
            </a:pPr>
            <a:r>
              <a:rPr lang="cs-CZ" dirty="0"/>
              <a:t>Plně virtuální interaktivní aplikace</a:t>
            </a:r>
          </a:p>
          <a:p>
            <a:pPr lvl="2">
              <a:buFont typeface="Arial" panose="020B0604020202020204" pitchFamily="34" charset="0"/>
              <a:buChar char="•"/>
            </a:pPr>
            <a:r>
              <a:rPr lang="cs-CZ" dirty="0"/>
              <a:t>Lze i modifikovat – brát předměty do ruky, otevírat dveře, pracovat s virtuálními nástroji, mačkat tlačítka, psát na virtuální klávesnici</a:t>
            </a:r>
          </a:p>
          <a:p>
            <a:pPr lvl="2">
              <a:buFont typeface="Arial" panose="020B0604020202020204" pitchFamily="34" charset="0"/>
              <a:buChar char="•"/>
            </a:pPr>
            <a:r>
              <a:rPr lang="cs-CZ" dirty="0"/>
              <a:t>Třeba virtuální operace (chirurg), architekt – umí i modifikovat budovu, ne jen prohlížet</a:t>
            </a:r>
          </a:p>
        </p:txBody>
      </p:sp>
    </p:spTree>
    <p:extLst>
      <p:ext uri="{BB962C8B-B14F-4D97-AF65-F5344CB8AC3E}">
        <p14:creationId xmlns:p14="http://schemas.microsoft.com/office/powerpoint/2010/main" val="970924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á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249</TotalTime>
  <Words>2534</Words>
  <Application>Microsoft Office PowerPoint</Application>
  <PresentationFormat>Širokoúhlá obrazovka</PresentationFormat>
  <Paragraphs>297</Paragraphs>
  <Slides>30</Slides>
  <Notes>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30</vt:i4>
      </vt:variant>
    </vt:vector>
  </HeadingPairs>
  <TitlesOfParts>
    <vt:vector size="37" baseType="lpstr">
      <vt:lpstr>Arial</vt:lpstr>
      <vt:lpstr>Courier New</vt:lpstr>
      <vt:lpstr>Tw Cen MT</vt:lpstr>
      <vt:lpstr>Tw Cen MT Condensed</vt:lpstr>
      <vt:lpstr>Wingdings</vt:lpstr>
      <vt:lpstr>Wingdings 3</vt:lpstr>
      <vt:lpstr>Integrál</vt:lpstr>
      <vt:lpstr>Vektorová Grafika</vt:lpstr>
      <vt:lpstr>Principy vektorové grafiky</vt:lpstr>
      <vt:lpstr>Výhody a nevýhody vektorové grafiky</vt:lpstr>
      <vt:lpstr>Oblasti využití</vt:lpstr>
      <vt:lpstr>Rasterizace</vt:lpstr>
      <vt:lpstr>Vektorizace</vt:lpstr>
      <vt:lpstr>Vektorové editory a formáty</vt:lpstr>
      <vt:lpstr>Formáty pro vektorovou grafiku</vt:lpstr>
      <vt:lpstr>Přenositelné formáty (PDF) </vt:lpstr>
      <vt:lpstr>Speciální vektorové formáty</vt:lpstr>
      <vt:lpstr>SVG – Vektorová grafika na webu</vt:lpstr>
      <vt:lpstr>Nástroje pro přesné kreslení</vt:lpstr>
      <vt:lpstr>Práce s křivkami</vt:lpstr>
      <vt:lpstr>Manipulace s objekty</vt:lpstr>
      <vt:lpstr>Logické operace</vt:lpstr>
      <vt:lpstr>CA technologie</vt:lpstr>
      <vt:lpstr>Generace cad programů</vt:lpstr>
      <vt:lpstr>Parametrické modelování</vt:lpstr>
      <vt:lpstr>Prezentace aplikace PowerPoint</vt:lpstr>
      <vt:lpstr>Nástroje pro vektorové kreslení a modelování</vt:lpstr>
      <vt:lpstr>Souřadnicový systém</vt:lpstr>
      <vt:lpstr>Kreslicí pomůcky</vt:lpstr>
      <vt:lpstr>Kreslicí pomůcky</vt:lpstr>
      <vt:lpstr>Počítačová animace</vt:lpstr>
      <vt:lpstr>Počítačová vizualizace</vt:lpstr>
      <vt:lpstr>Prezentace aplikace PowerPoint</vt:lpstr>
      <vt:lpstr>Počítačová vizualizace</vt:lpstr>
      <vt:lpstr>Virtuální realita</vt:lpstr>
      <vt:lpstr>Virtuální realita</vt:lpstr>
      <vt:lpstr>Virtuální realita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Vektorová Grafika</dc:title>
  <dc:creator>student</dc:creator>
  <cp:lastModifiedBy>Petr Krautwurst</cp:lastModifiedBy>
  <cp:revision>56</cp:revision>
  <dcterms:created xsi:type="dcterms:W3CDTF">2020-12-08T10:58:18Z</dcterms:created>
  <dcterms:modified xsi:type="dcterms:W3CDTF">2020-12-15T20:47:14Z</dcterms:modified>
</cp:coreProperties>
</file>